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4"/>
  </p:notesMasterIdLst>
  <p:sldIdLst>
    <p:sldId id="256" r:id="rId5"/>
    <p:sldId id="261" r:id="rId6"/>
    <p:sldId id="267" r:id="rId7"/>
    <p:sldId id="268" r:id="rId8"/>
    <p:sldId id="269" r:id="rId9"/>
    <p:sldId id="270" r:id="rId10"/>
    <p:sldId id="271" r:id="rId11"/>
    <p:sldId id="272" r:id="rId12"/>
    <p:sldId id="257" r:id="rId13"/>
    <p:sldId id="258" r:id="rId14"/>
    <p:sldId id="259" r:id="rId15"/>
    <p:sldId id="260" r:id="rId16"/>
    <p:sldId id="262" r:id="rId17"/>
    <p:sldId id="263" r:id="rId18"/>
    <p:sldId id="273" r:id="rId19"/>
    <p:sldId id="274" r:id="rId20"/>
    <p:sldId id="276" r:id="rId21"/>
    <p:sldId id="264" r:id="rId22"/>
    <p:sldId id="277"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6F2565-A3D0-7040-B08D-8E1B9A356AA5}" v="523" dt="2026-02-26T04:21:34.296"/>
    <p1510:client id="{F8B539B6-CA1B-F734-3E32-67CF5D8B9BEC}" v="722" dt="2026-02-26T04:12:00.46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diagrams/_rels/data2.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_rels/data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svg"/><Relationship Id="rId1" Type="http://schemas.openxmlformats.org/officeDocument/2006/relationships/image" Target="../media/image29.png"/><Relationship Id="rId4" Type="http://schemas.openxmlformats.org/officeDocument/2006/relationships/image" Target="../media/image32.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5.sv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_rels/drawing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svg"/><Relationship Id="rId1" Type="http://schemas.openxmlformats.org/officeDocument/2006/relationships/image" Target="../media/image29.png"/><Relationship Id="rId4" Type="http://schemas.openxmlformats.org/officeDocument/2006/relationships/image" Target="../media/image32.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32DB996-0DC1-45D5-82CC-8AA1603AB573}" type="doc">
      <dgm:prSet loTypeId="urn:microsoft.com/office/officeart/2005/8/layout/hList1" loCatId="list" qsTypeId="urn:microsoft.com/office/officeart/2005/8/quickstyle/simple1" qsCatId="simple" csTypeId="urn:microsoft.com/office/officeart/2005/8/colors/accent1_2" csCatId="accent1"/>
      <dgm:spPr/>
      <dgm:t>
        <a:bodyPr/>
        <a:lstStyle/>
        <a:p>
          <a:endParaRPr lang="en-US"/>
        </a:p>
      </dgm:t>
    </dgm:pt>
    <dgm:pt modelId="{C6B9C98C-0B8F-4473-9A63-37268F35C439}">
      <dgm:prSet/>
      <dgm:spPr/>
      <dgm:t>
        <a:bodyPr/>
        <a:lstStyle/>
        <a:p>
          <a:r>
            <a:rPr lang="en-US"/>
            <a:t>Functional Requirements</a:t>
          </a:r>
        </a:p>
      </dgm:t>
    </dgm:pt>
    <dgm:pt modelId="{F828EA83-F69C-4DF0-9D7C-97AF3B6D39AD}" type="parTrans" cxnId="{CA1597F7-6AC3-44B5-B5F9-D1F7487DD9E5}">
      <dgm:prSet/>
      <dgm:spPr/>
      <dgm:t>
        <a:bodyPr/>
        <a:lstStyle/>
        <a:p>
          <a:endParaRPr lang="en-US"/>
        </a:p>
      </dgm:t>
    </dgm:pt>
    <dgm:pt modelId="{4B662A77-21A1-4ACF-9A5F-F6C6D063ECA5}" type="sibTrans" cxnId="{CA1597F7-6AC3-44B5-B5F9-D1F7487DD9E5}">
      <dgm:prSet/>
      <dgm:spPr/>
      <dgm:t>
        <a:bodyPr/>
        <a:lstStyle/>
        <a:p>
          <a:endParaRPr lang="en-US"/>
        </a:p>
      </dgm:t>
    </dgm:pt>
    <dgm:pt modelId="{5AE8F783-FF58-45A5-B73B-5332EE28DB48}">
      <dgm:prSet/>
      <dgm:spPr/>
      <dgm:t>
        <a:bodyPr/>
        <a:lstStyle/>
        <a:p>
          <a:r>
            <a:rPr lang="en-US"/>
            <a:t>Distributed Input Processing</a:t>
          </a:r>
        </a:p>
      </dgm:t>
    </dgm:pt>
    <dgm:pt modelId="{BB55C24F-2B1A-43CD-979D-51BD5F753F3D}" type="parTrans" cxnId="{2118D082-A553-46AD-BD7A-197E611C4C5E}">
      <dgm:prSet/>
      <dgm:spPr/>
      <dgm:t>
        <a:bodyPr/>
        <a:lstStyle/>
        <a:p>
          <a:endParaRPr lang="en-US"/>
        </a:p>
      </dgm:t>
    </dgm:pt>
    <dgm:pt modelId="{80308376-5C55-4638-8BC1-3E0CD644347E}" type="sibTrans" cxnId="{2118D082-A553-46AD-BD7A-197E611C4C5E}">
      <dgm:prSet/>
      <dgm:spPr/>
      <dgm:t>
        <a:bodyPr/>
        <a:lstStyle/>
        <a:p>
          <a:endParaRPr lang="en-US"/>
        </a:p>
      </dgm:t>
    </dgm:pt>
    <dgm:pt modelId="{9EA4B8A4-7588-46CE-9D58-7479DA6FDB17}">
      <dgm:prSet/>
      <dgm:spPr/>
      <dgm:t>
        <a:bodyPr/>
        <a:lstStyle/>
        <a:p>
          <a:r>
            <a:rPr lang="en-US"/>
            <a:t>Parallel Arithmetic Operations</a:t>
          </a:r>
        </a:p>
      </dgm:t>
    </dgm:pt>
    <dgm:pt modelId="{45EC799C-0402-4603-B606-5BD8283FB7F4}" type="parTrans" cxnId="{EA7614A7-BDB7-4D55-BE57-E608E20A6B5C}">
      <dgm:prSet/>
      <dgm:spPr/>
      <dgm:t>
        <a:bodyPr/>
        <a:lstStyle/>
        <a:p>
          <a:endParaRPr lang="en-US"/>
        </a:p>
      </dgm:t>
    </dgm:pt>
    <dgm:pt modelId="{4CE97106-3299-47F4-9634-20C615ED836A}" type="sibTrans" cxnId="{EA7614A7-BDB7-4D55-BE57-E608E20A6B5C}">
      <dgm:prSet/>
      <dgm:spPr/>
      <dgm:t>
        <a:bodyPr/>
        <a:lstStyle/>
        <a:p>
          <a:endParaRPr lang="en-US"/>
        </a:p>
      </dgm:t>
    </dgm:pt>
    <dgm:pt modelId="{425CBF2B-9458-4B2E-A119-4336E1E5FA8E}">
      <dgm:prSet/>
      <dgm:spPr/>
      <dgm:t>
        <a:bodyPr/>
        <a:lstStyle/>
        <a:p>
          <a:r>
            <a:rPr lang="en-US"/>
            <a:t>Fault-Tolerant Communication</a:t>
          </a:r>
        </a:p>
      </dgm:t>
    </dgm:pt>
    <dgm:pt modelId="{72526E3A-E0B7-45EC-B260-58D7C2B9125C}" type="parTrans" cxnId="{87BFC792-CE0E-4C2B-8403-90BB0152F5A7}">
      <dgm:prSet/>
      <dgm:spPr/>
      <dgm:t>
        <a:bodyPr/>
        <a:lstStyle/>
        <a:p>
          <a:endParaRPr lang="en-US"/>
        </a:p>
      </dgm:t>
    </dgm:pt>
    <dgm:pt modelId="{B863D24C-FFD1-482B-A0FB-BD417D2EBAF9}" type="sibTrans" cxnId="{87BFC792-CE0E-4C2B-8403-90BB0152F5A7}">
      <dgm:prSet/>
      <dgm:spPr/>
      <dgm:t>
        <a:bodyPr/>
        <a:lstStyle/>
        <a:p>
          <a:endParaRPr lang="en-US"/>
        </a:p>
      </dgm:t>
    </dgm:pt>
    <dgm:pt modelId="{ACACD8C6-0E8A-4332-8A20-172C12E3BFFB}">
      <dgm:prSet/>
      <dgm:spPr/>
      <dgm:t>
        <a:bodyPr/>
        <a:lstStyle/>
        <a:p>
          <a:r>
            <a:rPr lang="en-US"/>
            <a:t>Synchronous Result Aggregation</a:t>
          </a:r>
        </a:p>
      </dgm:t>
    </dgm:pt>
    <dgm:pt modelId="{D2B0010D-53F3-4EB4-BE63-C370F8A096BC}" type="parTrans" cxnId="{B72CE064-F391-45A0-AA61-784A0E184EBD}">
      <dgm:prSet/>
      <dgm:spPr/>
      <dgm:t>
        <a:bodyPr/>
        <a:lstStyle/>
        <a:p>
          <a:endParaRPr lang="en-US"/>
        </a:p>
      </dgm:t>
    </dgm:pt>
    <dgm:pt modelId="{8A22E491-E3F8-4A41-986F-D6DE15EC6B80}" type="sibTrans" cxnId="{B72CE064-F391-45A0-AA61-784A0E184EBD}">
      <dgm:prSet/>
      <dgm:spPr/>
      <dgm:t>
        <a:bodyPr/>
        <a:lstStyle/>
        <a:p>
          <a:endParaRPr lang="en-US"/>
        </a:p>
      </dgm:t>
    </dgm:pt>
    <dgm:pt modelId="{442832D7-D651-4AA2-BD81-28E1F8D0B9D3}">
      <dgm:prSet/>
      <dgm:spPr/>
      <dgm:t>
        <a:bodyPr/>
        <a:lstStyle/>
        <a:p>
          <a:r>
            <a:rPr lang="en-US"/>
            <a:t>Performance Monitoring and Analytics</a:t>
          </a:r>
        </a:p>
      </dgm:t>
    </dgm:pt>
    <dgm:pt modelId="{1A9AD8C0-5BE5-4373-9B76-04DEAD6C5C2E}" type="parTrans" cxnId="{DE4245CD-6A72-4F3B-813A-37E7798D856F}">
      <dgm:prSet/>
      <dgm:spPr/>
      <dgm:t>
        <a:bodyPr/>
        <a:lstStyle/>
        <a:p>
          <a:endParaRPr lang="en-US"/>
        </a:p>
      </dgm:t>
    </dgm:pt>
    <dgm:pt modelId="{1C41D373-C929-4FD7-9159-F7F524455FEF}" type="sibTrans" cxnId="{DE4245CD-6A72-4F3B-813A-37E7798D856F}">
      <dgm:prSet/>
      <dgm:spPr/>
      <dgm:t>
        <a:bodyPr/>
        <a:lstStyle/>
        <a:p>
          <a:endParaRPr lang="en-US"/>
        </a:p>
      </dgm:t>
    </dgm:pt>
    <dgm:pt modelId="{FED29DAF-5F5C-47DF-BB91-4BA7BF823E2B}">
      <dgm:prSet/>
      <dgm:spPr/>
      <dgm:t>
        <a:bodyPr/>
        <a:lstStyle/>
        <a:p>
          <a:r>
            <a:rPr lang="en-US"/>
            <a:t>Scalable Container Orchestration</a:t>
          </a:r>
        </a:p>
      </dgm:t>
    </dgm:pt>
    <dgm:pt modelId="{48EF5498-1413-4AF4-BA0A-669CEF7A8227}" type="parTrans" cxnId="{D87B4273-3F81-4001-A382-FBA15CA232B1}">
      <dgm:prSet/>
      <dgm:spPr/>
      <dgm:t>
        <a:bodyPr/>
        <a:lstStyle/>
        <a:p>
          <a:endParaRPr lang="en-US"/>
        </a:p>
      </dgm:t>
    </dgm:pt>
    <dgm:pt modelId="{A7B42C00-1285-44A7-9C60-93763E09D08B}" type="sibTrans" cxnId="{D87B4273-3F81-4001-A382-FBA15CA232B1}">
      <dgm:prSet/>
      <dgm:spPr/>
      <dgm:t>
        <a:bodyPr/>
        <a:lstStyle/>
        <a:p>
          <a:endParaRPr lang="en-US"/>
        </a:p>
      </dgm:t>
    </dgm:pt>
    <dgm:pt modelId="{38EB422C-CD61-4756-88DF-6A760DD13FBF}">
      <dgm:prSet/>
      <dgm:spPr/>
      <dgm:t>
        <a:bodyPr/>
        <a:lstStyle/>
        <a:p>
          <a:r>
            <a:rPr lang="en-US"/>
            <a:t>Non-Functional Requirements</a:t>
          </a:r>
        </a:p>
      </dgm:t>
    </dgm:pt>
    <dgm:pt modelId="{5E67D164-DB0D-4B0B-82C5-4D31E94F9AD0}" type="parTrans" cxnId="{6231B736-4258-4C51-B714-16E99CD2ED65}">
      <dgm:prSet/>
      <dgm:spPr/>
      <dgm:t>
        <a:bodyPr/>
        <a:lstStyle/>
        <a:p>
          <a:endParaRPr lang="en-US"/>
        </a:p>
      </dgm:t>
    </dgm:pt>
    <dgm:pt modelId="{F2E0DA1C-B9DD-4B7B-AF22-091E8C967729}" type="sibTrans" cxnId="{6231B736-4258-4C51-B714-16E99CD2ED65}">
      <dgm:prSet/>
      <dgm:spPr/>
      <dgm:t>
        <a:bodyPr/>
        <a:lstStyle/>
        <a:p>
          <a:endParaRPr lang="en-US"/>
        </a:p>
      </dgm:t>
    </dgm:pt>
    <dgm:pt modelId="{77FA179A-4580-4B3A-B428-49C194044955}">
      <dgm:prSet/>
      <dgm:spPr/>
      <dgm:t>
        <a:bodyPr/>
        <a:lstStyle/>
        <a:p>
          <a:r>
            <a:rPr lang="en-US"/>
            <a:t>Scalability</a:t>
          </a:r>
        </a:p>
      </dgm:t>
    </dgm:pt>
    <dgm:pt modelId="{5D4044E4-7231-4AA9-B721-10AE36EDD332}" type="parTrans" cxnId="{2972D9E9-3AB6-474D-A317-B07E1558F855}">
      <dgm:prSet/>
      <dgm:spPr/>
      <dgm:t>
        <a:bodyPr/>
        <a:lstStyle/>
        <a:p>
          <a:endParaRPr lang="en-US"/>
        </a:p>
      </dgm:t>
    </dgm:pt>
    <dgm:pt modelId="{EB6E57BE-7751-4FA9-93ED-9E844E7B46BB}" type="sibTrans" cxnId="{2972D9E9-3AB6-474D-A317-B07E1558F855}">
      <dgm:prSet/>
      <dgm:spPr/>
      <dgm:t>
        <a:bodyPr/>
        <a:lstStyle/>
        <a:p>
          <a:endParaRPr lang="en-US"/>
        </a:p>
      </dgm:t>
    </dgm:pt>
    <dgm:pt modelId="{06FE5E9F-BCC1-4921-8040-C3D83E2CDCD6}" type="pres">
      <dgm:prSet presAssocID="{932DB996-0DC1-45D5-82CC-8AA1603AB573}" presName="Name0" presStyleCnt="0">
        <dgm:presLayoutVars>
          <dgm:dir/>
          <dgm:animLvl val="lvl"/>
          <dgm:resizeHandles val="exact"/>
        </dgm:presLayoutVars>
      </dgm:prSet>
      <dgm:spPr/>
    </dgm:pt>
    <dgm:pt modelId="{ABC6C7C9-4AAF-4167-A736-B78D1F6A1E05}" type="pres">
      <dgm:prSet presAssocID="{C6B9C98C-0B8F-4473-9A63-37268F35C439}" presName="composite" presStyleCnt="0"/>
      <dgm:spPr/>
    </dgm:pt>
    <dgm:pt modelId="{5EE8761B-15EF-4FE0-89E3-A4E8DC8ACDBB}" type="pres">
      <dgm:prSet presAssocID="{C6B9C98C-0B8F-4473-9A63-37268F35C439}" presName="parTx" presStyleLbl="alignNode1" presStyleIdx="0" presStyleCnt="2">
        <dgm:presLayoutVars>
          <dgm:chMax val="0"/>
          <dgm:chPref val="0"/>
          <dgm:bulletEnabled val="1"/>
        </dgm:presLayoutVars>
      </dgm:prSet>
      <dgm:spPr/>
    </dgm:pt>
    <dgm:pt modelId="{42F1A880-90A9-4418-B934-D21ADB3E4682}" type="pres">
      <dgm:prSet presAssocID="{C6B9C98C-0B8F-4473-9A63-37268F35C439}" presName="desTx" presStyleLbl="alignAccFollowNode1" presStyleIdx="0" presStyleCnt="2">
        <dgm:presLayoutVars>
          <dgm:bulletEnabled val="1"/>
        </dgm:presLayoutVars>
      </dgm:prSet>
      <dgm:spPr/>
    </dgm:pt>
    <dgm:pt modelId="{284F7A6D-EA87-4033-AF39-D64B18829EC5}" type="pres">
      <dgm:prSet presAssocID="{4B662A77-21A1-4ACF-9A5F-F6C6D063ECA5}" presName="space" presStyleCnt="0"/>
      <dgm:spPr/>
    </dgm:pt>
    <dgm:pt modelId="{4ED0A46B-418F-4AD6-8ECF-AAC44140915C}" type="pres">
      <dgm:prSet presAssocID="{38EB422C-CD61-4756-88DF-6A760DD13FBF}" presName="composite" presStyleCnt="0"/>
      <dgm:spPr/>
    </dgm:pt>
    <dgm:pt modelId="{0CFB2D49-5895-404A-8614-AE20E5F11095}" type="pres">
      <dgm:prSet presAssocID="{38EB422C-CD61-4756-88DF-6A760DD13FBF}" presName="parTx" presStyleLbl="alignNode1" presStyleIdx="1" presStyleCnt="2">
        <dgm:presLayoutVars>
          <dgm:chMax val="0"/>
          <dgm:chPref val="0"/>
          <dgm:bulletEnabled val="1"/>
        </dgm:presLayoutVars>
      </dgm:prSet>
      <dgm:spPr/>
    </dgm:pt>
    <dgm:pt modelId="{E57CC652-AD44-487C-94F5-967124335608}" type="pres">
      <dgm:prSet presAssocID="{38EB422C-CD61-4756-88DF-6A760DD13FBF}" presName="desTx" presStyleLbl="alignAccFollowNode1" presStyleIdx="1" presStyleCnt="2">
        <dgm:presLayoutVars>
          <dgm:bulletEnabled val="1"/>
        </dgm:presLayoutVars>
      </dgm:prSet>
      <dgm:spPr/>
    </dgm:pt>
  </dgm:ptLst>
  <dgm:cxnLst>
    <dgm:cxn modelId="{6D48B30F-DDC9-4F5C-87B8-19B7C48498BC}" type="presOf" srcId="{ACACD8C6-0E8A-4332-8A20-172C12E3BFFB}" destId="{42F1A880-90A9-4418-B934-D21ADB3E4682}" srcOrd="0" destOrd="3" presId="urn:microsoft.com/office/officeart/2005/8/layout/hList1"/>
    <dgm:cxn modelId="{6AD0AE14-FB05-4333-8881-82DEE41AAD76}" type="presOf" srcId="{C6B9C98C-0B8F-4473-9A63-37268F35C439}" destId="{5EE8761B-15EF-4FE0-89E3-A4E8DC8ACDBB}" srcOrd="0" destOrd="0" presId="urn:microsoft.com/office/officeart/2005/8/layout/hList1"/>
    <dgm:cxn modelId="{0B88CB20-9B98-4EFC-B1F7-EB416CD52E71}" type="presOf" srcId="{38EB422C-CD61-4756-88DF-6A760DD13FBF}" destId="{0CFB2D49-5895-404A-8614-AE20E5F11095}" srcOrd="0" destOrd="0" presId="urn:microsoft.com/office/officeart/2005/8/layout/hList1"/>
    <dgm:cxn modelId="{6231B736-4258-4C51-B714-16E99CD2ED65}" srcId="{932DB996-0DC1-45D5-82CC-8AA1603AB573}" destId="{38EB422C-CD61-4756-88DF-6A760DD13FBF}" srcOrd="1" destOrd="0" parTransId="{5E67D164-DB0D-4B0B-82C5-4D31E94F9AD0}" sibTransId="{F2E0DA1C-B9DD-4B7B-AF22-091E8C967729}"/>
    <dgm:cxn modelId="{B72CE064-F391-45A0-AA61-784A0E184EBD}" srcId="{C6B9C98C-0B8F-4473-9A63-37268F35C439}" destId="{ACACD8C6-0E8A-4332-8A20-172C12E3BFFB}" srcOrd="3" destOrd="0" parTransId="{D2B0010D-53F3-4EB4-BE63-C370F8A096BC}" sibTransId="{8A22E491-E3F8-4A41-986F-D6DE15EC6B80}"/>
    <dgm:cxn modelId="{D87B4273-3F81-4001-A382-FBA15CA232B1}" srcId="{C6B9C98C-0B8F-4473-9A63-37268F35C439}" destId="{FED29DAF-5F5C-47DF-BB91-4BA7BF823E2B}" srcOrd="5" destOrd="0" parTransId="{48EF5498-1413-4AF4-BA0A-669CEF7A8227}" sibTransId="{A7B42C00-1285-44A7-9C60-93763E09D08B}"/>
    <dgm:cxn modelId="{DFB01156-68A0-4EFA-8AC1-50FF09D1ADAB}" type="presOf" srcId="{932DB996-0DC1-45D5-82CC-8AA1603AB573}" destId="{06FE5E9F-BCC1-4921-8040-C3D83E2CDCD6}" srcOrd="0" destOrd="0" presId="urn:microsoft.com/office/officeart/2005/8/layout/hList1"/>
    <dgm:cxn modelId="{2118D082-A553-46AD-BD7A-197E611C4C5E}" srcId="{C6B9C98C-0B8F-4473-9A63-37268F35C439}" destId="{5AE8F783-FF58-45A5-B73B-5332EE28DB48}" srcOrd="0" destOrd="0" parTransId="{BB55C24F-2B1A-43CD-979D-51BD5F753F3D}" sibTransId="{80308376-5C55-4638-8BC1-3E0CD644347E}"/>
    <dgm:cxn modelId="{0A845188-F6C3-457B-ADF1-8905EAF6FA65}" type="presOf" srcId="{FED29DAF-5F5C-47DF-BB91-4BA7BF823E2B}" destId="{42F1A880-90A9-4418-B934-D21ADB3E4682}" srcOrd="0" destOrd="5" presId="urn:microsoft.com/office/officeart/2005/8/layout/hList1"/>
    <dgm:cxn modelId="{87BFC792-CE0E-4C2B-8403-90BB0152F5A7}" srcId="{C6B9C98C-0B8F-4473-9A63-37268F35C439}" destId="{425CBF2B-9458-4B2E-A119-4336E1E5FA8E}" srcOrd="2" destOrd="0" parTransId="{72526E3A-E0B7-45EC-B260-58D7C2B9125C}" sibTransId="{B863D24C-FFD1-482B-A0FB-BD417D2EBAF9}"/>
    <dgm:cxn modelId="{EA7614A7-BDB7-4D55-BE57-E608E20A6B5C}" srcId="{C6B9C98C-0B8F-4473-9A63-37268F35C439}" destId="{9EA4B8A4-7588-46CE-9D58-7479DA6FDB17}" srcOrd="1" destOrd="0" parTransId="{45EC799C-0402-4603-B606-5BD8283FB7F4}" sibTransId="{4CE97106-3299-47F4-9634-20C615ED836A}"/>
    <dgm:cxn modelId="{4ED8D8AA-4540-44BD-8578-4A336F36694D}" type="presOf" srcId="{5AE8F783-FF58-45A5-B73B-5332EE28DB48}" destId="{42F1A880-90A9-4418-B934-D21ADB3E4682}" srcOrd="0" destOrd="0" presId="urn:microsoft.com/office/officeart/2005/8/layout/hList1"/>
    <dgm:cxn modelId="{01C6DFAE-A769-428E-A81F-D0B338E52AFA}" type="presOf" srcId="{9EA4B8A4-7588-46CE-9D58-7479DA6FDB17}" destId="{42F1A880-90A9-4418-B934-D21ADB3E4682}" srcOrd="0" destOrd="1" presId="urn:microsoft.com/office/officeart/2005/8/layout/hList1"/>
    <dgm:cxn modelId="{94F5EFBD-21A5-43DD-94E0-2A6F9FA78555}" type="presOf" srcId="{442832D7-D651-4AA2-BD81-28E1F8D0B9D3}" destId="{42F1A880-90A9-4418-B934-D21ADB3E4682}" srcOrd="0" destOrd="4" presId="urn:microsoft.com/office/officeart/2005/8/layout/hList1"/>
    <dgm:cxn modelId="{DE4245CD-6A72-4F3B-813A-37E7798D856F}" srcId="{C6B9C98C-0B8F-4473-9A63-37268F35C439}" destId="{442832D7-D651-4AA2-BD81-28E1F8D0B9D3}" srcOrd="4" destOrd="0" parTransId="{1A9AD8C0-5BE5-4373-9B76-04DEAD6C5C2E}" sibTransId="{1C41D373-C929-4FD7-9159-F7F524455FEF}"/>
    <dgm:cxn modelId="{D6B72ADB-9A20-43FA-9902-FA96A0E92E13}" type="presOf" srcId="{77FA179A-4580-4B3A-B428-49C194044955}" destId="{E57CC652-AD44-487C-94F5-967124335608}" srcOrd="0" destOrd="0" presId="urn:microsoft.com/office/officeart/2005/8/layout/hList1"/>
    <dgm:cxn modelId="{2972D9E9-3AB6-474D-A317-B07E1558F855}" srcId="{38EB422C-CD61-4756-88DF-6A760DD13FBF}" destId="{77FA179A-4580-4B3A-B428-49C194044955}" srcOrd="0" destOrd="0" parTransId="{5D4044E4-7231-4AA9-B721-10AE36EDD332}" sibTransId="{EB6E57BE-7751-4FA9-93ED-9E844E7B46BB}"/>
    <dgm:cxn modelId="{4AF83EF2-1026-44C3-A86E-814ACFCF8851}" type="presOf" srcId="{425CBF2B-9458-4B2E-A119-4336E1E5FA8E}" destId="{42F1A880-90A9-4418-B934-D21ADB3E4682}" srcOrd="0" destOrd="2" presId="urn:microsoft.com/office/officeart/2005/8/layout/hList1"/>
    <dgm:cxn modelId="{CA1597F7-6AC3-44B5-B5F9-D1F7487DD9E5}" srcId="{932DB996-0DC1-45D5-82CC-8AA1603AB573}" destId="{C6B9C98C-0B8F-4473-9A63-37268F35C439}" srcOrd="0" destOrd="0" parTransId="{F828EA83-F69C-4DF0-9D7C-97AF3B6D39AD}" sibTransId="{4B662A77-21A1-4ACF-9A5F-F6C6D063ECA5}"/>
    <dgm:cxn modelId="{DF94BB7E-4BC8-41A8-B1B1-8C66D596070A}" type="presParOf" srcId="{06FE5E9F-BCC1-4921-8040-C3D83E2CDCD6}" destId="{ABC6C7C9-4AAF-4167-A736-B78D1F6A1E05}" srcOrd="0" destOrd="0" presId="urn:microsoft.com/office/officeart/2005/8/layout/hList1"/>
    <dgm:cxn modelId="{B3479963-7A39-4725-A3E6-A694FD5AFCB0}" type="presParOf" srcId="{ABC6C7C9-4AAF-4167-A736-B78D1F6A1E05}" destId="{5EE8761B-15EF-4FE0-89E3-A4E8DC8ACDBB}" srcOrd="0" destOrd="0" presId="urn:microsoft.com/office/officeart/2005/8/layout/hList1"/>
    <dgm:cxn modelId="{E926469C-86F8-45C6-BCBA-8EF2C065C3F8}" type="presParOf" srcId="{ABC6C7C9-4AAF-4167-A736-B78D1F6A1E05}" destId="{42F1A880-90A9-4418-B934-D21ADB3E4682}" srcOrd="1" destOrd="0" presId="urn:microsoft.com/office/officeart/2005/8/layout/hList1"/>
    <dgm:cxn modelId="{DB87CBD6-2207-47A7-A0E0-3E029EA0B9C1}" type="presParOf" srcId="{06FE5E9F-BCC1-4921-8040-C3D83E2CDCD6}" destId="{284F7A6D-EA87-4033-AF39-D64B18829EC5}" srcOrd="1" destOrd="0" presId="urn:microsoft.com/office/officeart/2005/8/layout/hList1"/>
    <dgm:cxn modelId="{3E9EF9FB-AEF8-41C5-866A-4152910EB144}" type="presParOf" srcId="{06FE5E9F-BCC1-4921-8040-C3D83E2CDCD6}" destId="{4ED0A46B-418F-4AD6-8ECF-AAC44140915C}" srcOrd="2" destOrd="0" presId="urn:microsoft.com/office/officeart/2005/8/layout/hList1"/>
    <dgm:cxn modelId="{0ECC35C4-A0F9-4840-BCF6-D72AE61E9528}" type="presParOf" srcId="{4ED0A46B-418F-4AD6-8ECF-AAC44140915C}" destId="{0CFB2D49-5895-404A-8614-AE20E5F11095}" srcOrd="0" destOrd="0" presId="urn:microsoft.com/office/officeart/2005/8/layout/hList1"/>
    <dgm:cxn modelId="{C100C1C4-B803-49B9-A315-1713B1EB5E7F}" type="presParOf" srcId="{4ED0A46B-418F-4AD6-8ECF-AAC44140915C}" destId="{E57CC652-AD44-487C-94F5-967124335608}"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77F99ED-A70C-496B-B6E5-038F26CBA597}"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5E593D71-75E9-4863-A7D0-1F5AA888AE15}">
      <dgm:prSet/>
      <dgm:spPr/>
      <dgm:t>
        <a:bodyPr/>
        <a:lstStyle/>
        <a:p>
          <a:pPr>
            <a:lnSpc>
              <a:spcPct val="100000"/>
            </a:lnSpc>
          </a:pPr>
          <a:r>
            <a:rPr lang="en-US"/>
            <a:t>The system shall synchronize computation results from distributed nodes and maintain consistency through centralized result collection and validation. </a:t>
          </a:r>
        </a:p>
      </dgm:t>
    </dgm:pt>
    <dgm:pt modelId="{ED445737-90EF-4A9A-A827-E3A87747C9CB}" type="parTrans" cxnId="{E89E3064-7B86-424D-AA21-C33DA58E3344}">
      <dgm:prSet/>
      <dgm:spPr/>
      <dgm:t>
        <a:bodyPr/>
        <a:lstStyle/>
        <a:p>
          <a:endParaRPr lang="en-US"/>
        </a:p>
      </dgm:t>
    </dgm:pt>
    <dgm:pt modelId="{710F373F-674F-43FC-B7F9-9AF9FE81EC92}" type="sibTrans" cxnId="{E89E3064-7B86-424D-AA21-C33DA58E3344}">
      <dgm:prSet/>
      <dgm:spPr/>
      <dgm:t>
        <a:bodyPr/>
        <a:lstStyle/>
        <a:p>
          <a:endParaRPr lang="en-US"/>
        </a:p>
      </dgm:t>
    </dgm:pt>
    <dgm:pt modelId="{B1D17E8B-FF2E-4B73-BFC8-F8273AD0F14C}">
      <dgm:prSet/>
      <dgm:spPr/>
      <dgm:t>
        <a:bodyPr/>
        <a:lstStyle/>
        <a:p>
          <a:pPr>
            <a:lnSpc>
              <a:spcPct val="100000"/>
            </a:lnSpc>
          </a:pPr>
          <a:r>
            <a:rPr lang="en-US"/>
            <a:t>Display node serves as the centralized result aggregator </a:t>
          </a:r>
        </a:p>
      </dgm:t>
    </dgm:pt>
    <dgm:pt modelId="{9BFACE36-7D52-40C3-98FC-41DC7D76D009}" type="parTrans" cxnId="{0E44C037-9A4A-4E55-83F2-DD1A1E61781C}">
      <dgm:prSet/>
      <dgm:spPr/>
      <dgm:t>
        <a:bodyPr/>
        <a:lstStyle/>
        <a:p>
          <a:endParaRPr lang="en-US"/>
        </a:p>
      </dgm:t>
    </dgm:pt>
    <dgm:pt modelId="{1605784F-9EF3-4226-8EFF-3BAB7AB968D2}" type="sibTrans" cxnId="{0E44C037-9A4A-4E55-83F2-DD1A1E61781C}">
      <dgm:prSet/>
      <dgm:spPr/>
      <dgm:t>
        <a:bodyPr/>
        <a:lstStyle/>
        <a:p>
          <a:endParaRPr lang="en-US"/>
        </a:p>
      </dgm:t>
    </dgm:pt>
    <dgm:pt modelId="{DA46ADFC-C61A-46EB-955E-468DD8330DCE}">
      <dgm:prSet/>
      <dgm:spPr/>
      <dgm:t>
        <a:bodyPr/>
        <a:lstStyle/>
        <a:p>
          <a:pPr>
            <a:lnSpc>
              <a:spcPct val="100000"/>
            </a:lnSpc>
          </a:pPr>
          <a:r>
            <a:rPr lang="en-US"/>
            <a:t>Result counting and validation </a:t>
          </a:r>
        </a:p>
      </dgm:t>
    </dgm:pt>
    <dgm:pt modelId="{20B9D904-995A-43A3-96BB-BEAA485ADB5B}" type="parTrans" cxnId="{7A518611-9E69-46E1-9699-451864B291BB}">
      <dgm:prSet/>
      <dgm:spPr/>
      <dgm:t>
        <a:bodyPr/>
        <a:lstStyle/>
        <a:p>
          <a:endParaRPr lang="en-US"/>
        </a:p>
      </dgm:t>
    </dgm:pt>
    <dgm:pt modelId="{BA1A5271-6317-4A33-B6FE-E91FE490716E}" type="sibTrans" cxnId="{7A518611-9E69-46E1-9699-451864B291BB}">
      <dgm:prSet/>
      <dgm:spPr/>
      <dgm:t>
        <a:bodyPr/>
        <a:lstStyle/>
        <a:p>
          <a:endParaRPr lang="en-US"/>
        </a:p>
      </dgm:t>
    </dgm:pt>
    <dgm:pt modelId="{AA6675C9-7407-4964-858D-AE6EE9B1459A}">
      <dgm:prSet/>
      <dgm:spPr/>
      <dgm:t>
        <a:bodyPr/>
        <a:lstStyle/>
        <a:p>
          <a:pPr>
            <a:lnSpc>
              <a:spcPct val="100000"/>
            </a:lnSpc>
          </a:pPr>
          <a:r>
            <a:rPr lang="en-US"/>
            <a:t>Synchronization mechanism </a:t>
          </a:r>
        </a:p>
      </dgm:t>
    </dgm:pt>
    <dgm:pt modelId="{305CEB3D-95E2-4DD9-AFD4-8F90AC8A0524}" type="parTrans" cxnId="{1632CE73-B62A-4A28-860D-B5C030A21BBA}">
      <dgm:prSet/>
      <dgm:spPr/>
      <dgm:t>
        <a:bodyPr/>
        <a:lstStyle/>
        <a:p>
          <a:endParaRPr lang="en-US"/>
        </a:p>
      </dgm:t>
    </dgm:pt>
    <dgm:pt modelId="{ECF32699-60CB-4151-9665-93D8286A882A}" type="sibTrans" cxnId="{1632CE73-B62A-4A28-860D-B5C030A21BBA}">
      <dgm:prSet/>
      <dgm:spPr/>
      <dgm:t>
        <a:bodyPr/>
        <a:lstStyle/>
        <a:p>
          <a:endParaRPr lang="en-US"/>
        </a:p>
      </dgm:t>
    </dgm:pt>
    <dgm:pt modelId="{4D2D42B1-1BB4-4F1B-B664-3CC9AF41D683}" type="pres">
      <dgm:prSet presAssocID="{A77F99ED-A70C-496B-B6E5-038F26CBA597}" presName="root" presStyleCnt="0">
        <dgm:presLayoutVars>
          <dgm:dir/>
          <dgm:resizeHandles val="exact"/>
        </dgm:presLayoutVars>
      </dgm:prSet>
      <dgm:spPr/>
    </dgm:pt>
    <dgm:pt modelId="{95DBA9A7-D925-46D6-8FF5-6D2650EA2F25}" type="pres">
      <dgm:prSet presAssocID="{5E593D71-75E9-4863-A7D0-1F5AA888AE15}" presName="compNode" presStyleCnt="0"/>
      <dgm:spPr/>
    </dgm:pt>
    <dgm:pt modelId="{84D046EB-4BF8-49B8-8150-18252F7918AA}" type="pres">
      <dgm:prSet presAssocID="{5E593D71-75E9-4863-A7D0-1F5AA888AE15}" presName="bgRect" presStyleLbl="bgShp" presStyleIdx="0" presStyleCnt="4"/>
      <dgm:spPr/>
    </dgm:pt>
    <dgm:pt modelId="{3B61389B-93C6-4A87-9C38-43E7598DA910}" type="pres">
      <dgm:prSet presAssocID="{5E593D71-75E9-4863-A7D0-1F5AA888AE15}"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atabase"/>
        </a:ext>
      </dgm:extLst>
    </dgm:pt>
    <dgm:pt modelId="{5B48C9A2-FEE2-4856-97D3-EC10AB1720E7}" type="pres">
      <dgm:prSet presAssocID="{5E593D71-75E9-4863-A7D0-1F5AA888AE15}" presName="spaceRect" presStyleCnt="0"/>
      <dgm:spPr/>
    </dgm:pt>
    <dgm:pt modelId="{E85C569F-C19A-4109-8002-5EA649D1FA1B}" type="pres">
      <dgm:prSet presAssocID="{5E593D71-75E9-4863-A7D0-1F5AA888AE15}" presName="parTx" presStyleLbl="revTx" presStyleIdx="0" presStyleCnt="4">
        <dgm:presLayoutVars>
          <dgm:chMax val="0"/>
          <dgm:chPref val="0"/>
        </dgm:presLayoutVars>
      </dgm:prSet>
      <dgm:spPr/>
    </dgm:pt>
    <dgm:pt modelId="{1D4CE65C-ED0B-451F-97F3-64F308BCA98F}" type="pres">
      <dgm:prSet presAssocID="{710F373F-674F-43FC-B7F9-9AF9FE81EC92}" presName="sibTrans" presStyleCnt="0"/>
      <dgm:spPr/>
    </dgm:pt>
    <dgm:pt modelId="{1BC7E462-9DB5-4D46-8798-1C0974009518}" type="pres">
      <dgm:prSet presAssocID="{B1D17E8B-FF2E-4B73-BFC8-F8273AD0F14C}" presName="compNode" presStyleCnt="0"/>
      <dgm:spPr/>
    </dgm:pt>
    <dgm:pt modelId="{831AAF3F-EE9B-4C07-80E0-874DA71ED046}" type="pres">
      <dgm:prSet presAssocID="{B1D17E8B-FF2E-4B73-BFC8-F8273AD0F14C}" presName="bgRect" presStyleLbl="bgShp" presStyleIdx="1" presStyleCnt="4"/>
      <dgm:spPr/>
    </dgm:pt>
    <dgm:pt modelId="{6FDBE415-DFE2-4E0C-9E8C-52F1CD6D65F5}" type="pres">
      <dgm:prSet presAssocID="{B1D17E8B-FF2E-4B73-BFC8-F8273AD0F14C}"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omputer"/>
        </a:ext>
      </dgm:extLst>
    </dgm:pt>
    <dgm:pt modelId="{9DC4ACCA-9080-4588-992B-22460C6E5024}" type="pres">
      <dgm:prSet presAssocID="{B1D17E8B-FF2E-4B73-BFC8-F8273AD0F14C}" presName="spaceRect" presStyleCnt="0"/>
      <dgm:spPr/>
    </dgm:pt>
    <dgm:pt modelId="{2F43AA93-B196-4BD5-A989-E61A02BF5F32}" type="pres">
      <dgm:prSet presAssocID="{B1D17E8B-FF2E-4B73-BFC8-F8273AD0F14C}" presName="parTx" presStyleLbl="revTx" presStyleIdx="1" presStyleCnt="4">
        <dgm:presLayoutVars>
          <dgm:chMax val="0"/>
          <dgm:chPref val="0"/>
        </dgm:presLayoutVars>
      </dgm:prSet>
      <dgm:spPr/>
    </dgm:pt>
    <dgm:pt modelId="{915795B1-1951-46BB-8917-B31756BFE032}" type="pres">
      <dgm:prSet presAssocID="{1605784F-9EF3-4226-8EFF-3BAB7AB968D2}" presName="sibTrans" presStyleCnt="0"/>
      <dgm:spPr/>
    </dgm:pt>
    <dgm:pt modelId="{6276D413-D2EF-43C0-8A24-D0F73E4A8983}" type="pres">
      <dgm:prSet presAssocID="{DA46ADFC-C61A-46EB-955E-468DD8330DCE}" presName="compNode" presStyleCnt="0"/>
      <dgm:spPr/>
    </dgm:pt>
    <dgm:pt modelId="{CCA79B5D-5BA2-42F2-8A56-00DB9A42F4EC}" type="pres">
      <dgm:prSet presAssocID="{DA46ADFC-C61A-46EB-955E-468DD8330DCE}" presName="bgRect" presStyleLbl="bgShp" presStyleIdx="2" presStyleCnt="4"/>
      <dgm:spPr/>
    </dgm:pt>
    <dgm:pt modelId="{8B08BC27-A22A-48D5-99D5-04A596A3FC94}" type="pres">
      <dgm:prSet presAssocID="{DA46ADFC-C61A-46EB-955E-468DD8330DCE}"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Checkmark"/>
        </a:ext>
      </dgm:extLst>
    </dgm:pt>
    <dgm:pt modelId="{680826A4-EBC0-4648-9793-7E2CB5F038A3}" type="pres">
      <dgm:prSet presAssocID="{DA46ADFC-C61A-46EB-955E-468DD8330DCE}" presName="spaceRect" presStyleCnt="0"/>
      <dgm:spPr/>
    </dgm:pt>
    <dgm:pt modelId="{9D3FC361-309F-475A-B9A7-A23A362A154A}" type="pres">
      <dgm:prSet presAssocID="{DA46ADFC-C61A-46EB-955E-468DD8330DCE}" presName="parTx" presStyleLbl="revTx" presStyleIdx="2" presStyleCnt="4">
        <dgm:presLayoutVars>
          <dgm:chMax val="0"/>
          <dgm:chPref val="0"/>
        </dgm:presLayoutVars>
      </dgm:prSet>
      <dgm:spPr/>
    </dgm:pt>
    <dgm:pt modelId="{C75C7E8A-A0C2-4E1A-AAE2-C18818CADB09}" type="pres">
      <dgm:prSet presAssocID="{BA1A5271-6317-4A33-B6FE-E91FE490716E}" presName="sibTrans" presStyleCnt="0"/>
      <dgm:spPr/>
    </dgm:pt>
    <dgm:pt modelId="{5CBA49A6-6160-43E8-A9CB-15AC5F81FDB8}" type="pres">
      <dgm:prSet presAssocID="{AA6675C9-7407-4964-858D-AE6EE9B1459A}" presName="compNode" presStyleCnt="0"/>
      <dgm:spPr/>
    </dgm:pt>
    <dgm:pt modelId="{EFF6FCB2-8FB7-4C96-903D-473D3E664270}" type="pres">
      <dgm:prSet presAssocID="{AA6675C9-7407-4964-858D-AE6EE9B1459A}" presName="bgRect" presStyleLbl="bgShp" presStyleIdx="3" presStyleCnt="4"/>
      <dgm:spPr/>
    </dgm:pt>
    <dgm:pt modelId="{8D92A9A7-99D2-47C4-B4AC-6DBD21F2D1C8}" type="pres">
      <dgm:prSet presAssocID="{AA6675C9-7407-4964-858D-AE6EE9B1459A}"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Gears"/>
        </a:ext>
      </dgm:extLst>
    </dgm:pt>
    <dgm:pt modelId="{02BE4955-3E10-4EAB-A861-424CC6834D90}" type="pres">
      <dgm:prSet presAssocID="{AA6675C9-7407-4964-858D-AE6EE9B1459A}" presName="spaceRect" presStyleCnt="0"/>
      <dgm:spPr/>
    </dgm:pt>
    <dgm:pt modelId="{6800B02F-9C8D-4366-9586-9DE4C17493FC}" type="pres">
      <dgm:prSet presAssocID="{AA6675C9-7407-4964-858D-AE6EE9B1459A}" presName="parTx" presStyleLbl="revTx" presStyleIdx="3" presStyleCnt="4">
        <dgm:presLayoutVars>
          <dgm:chMax val="0"/>
          <dgm:chPref val="0"/>
        </dgm:presLayoutVars>
      </dgm:prSet>
      <dgm:spPr/>
    </dgm:pt>
  </dgm:ptLst>
  <dgm:cxnLst>
    <dgm:cxn modelId="{7A518611-9E69-46E1-9699-451864B291BB}" srcId="{A77F99ED-A70C-496B-B6E5-038F26CBA597}" destId="{DA46ADFC-C61A-46EB-955E-468DD8330DCE}" srcOrd="2" destOrd="0" parTransId="{20B9D904-995A-43A3-96BB-BEAA485ADB5B}" sibTransId="{BA1A5271-6317-4A33-B6FE-E91FE490716E}"/>
    <dgm:cxn modelId="{79AFB336-AD01-4E88-ABEE-7B70C036F6A4}" type="presOf" srcId="{B1D17E8B-FF2E-4B73-BFC8-F8273AD0F14C}" destId="{2F43AA93-B196-4BD5-A989-E61A02BF5F32}" srcOrd="0" destOrd="0" presId="urn:microsoft.com/office/officeart/2018/2/layout/IconVerticalSolidList"/>
    <dgm:cxn modelId="{0E44C037-9A4A-4E55-83F2-DD1A1E61781C}" srcId="{A77F99ED-A70C-496B-B6E5-038F26CBA597}" destId="{B1D17E8B-FF2E-4B73-BFC8-F8273AD0F14C}" srcOrd="1" destOrd="0" parTransId="{9BFACE36-7D52-40C3-98FC-41DC7D76D009}" sibTransId="{1605784F-9EF3-4226-8EFF-3BAB7AB968D2}"/>
    <dgm:cxn modelId="{E89E3064-7B86-424D-AA21-C33DA58E3344}" srcId="{A77F99ED-A70C-496B-B6E5-038F26CBA597}" destId="{5E593D71-75E9-4863-A7D0-1F5AA888AE15}" srcOrd="0" destOrd="0" parTransId="{ED445737-90EF-4A9A-A827-E3A87747C9CB}" sibTransId="{710F373F-674F-43FC-B7F9-9AF9FE81EC92}"/>
    <dgm:cxn modelId="{1632CE73-B62A-4A28-860D-B5C030A21BBA}" srcId="{A77F99ED-A70C-496B-B6E5-038F26CBA597}" destId="{AA6675C9-7407-4964-858D-AE6EE9B1459A}" srcOrd="3" destOrd="0" parTransId="{305CEB3D-95E2-4DD9-AFD4-8F90AC8A0524}" sibTransId="{ECF32699-60CB-4151-9665-93D8286A882A}"/>
    <dgm:cxn modelId="{ABFEEB7F-2675-4539-AB48-536D6D69748C}" type="presOf" srcId="{AA6675C9-7407-4964-858D-AE6EE9B1459A}" destId="{6800B02F-9C8D-4366-9586-9DE4C17493FC}" srcOrd="0" destOrd="0" presId="urn:microsoft.com/office/officeart/2018/2/layout/IconVerticalSolidList"/>
    <dgm:cxn modelId="{7689E394-CDC8-4F73-AF53-E617B65AFD81}" type="presOf" srcId="{A77F99ED-A70C-496B-B6E5-038F26CBA597}" destId="{4D2D42B1-1BB4-4F1B-B664-3CC9AF41D683}" srcOrd="0" destOrd="0" presId="urn:microsoft.com/office/officeart/2018/2/layout/IconVerticalSolidList"/>
    <dgm:cxn modelId="{1C1CF9ED-C0F3-48FC-A77A-EDAEBDB4F0A7}" type="presOf" srcId="{5E593D71-75E9-4863-A7D0-1F5AA888AE15}" destId="{E85C569F-C19A-4109-8002-5EA649D1FA1B}" srcOrd="0" destOrd="0" presId="urn:microsoft.com/office/officeart/2018/2/layout/IconVerticalSolidList"/>
    <dgm:cxn modelId="{8A5DCDF9-A52D-4E25-BDF4-B5439DC06B9F}" type="presOf" srcId="{DA46ADFC-C61A-46EB-955E-468DD8330DCE}" destId="{9D3FC361-309F-475A-B9A7-A23A362A154A}" srcOrd="0" destOrd="0" presId="urn:microsoft.com/office/officeart/2018/2/layout/IconVerticalSolidList"/>
    <dgm:cxn modelId="{0C040E14-07F9-4F5B-8BB5-B8B650A0131F}" type="presParOf" srcId="{4D2D42B1-1BB4-4F1B-B664-3CC9AF41D683}" destId="{95DBA9A7-D925-46D6-8FF5-6D2650EA2F25}" srcOrd="0" destOrd="0" presId="urn:microsoft.com/office/officeart/2018/2/layout/IconVerticalSolidList"/>
    <dgm:cxn modelId="{397B7777-F5A7-4306-9C9F-D5CC6564E96C}" type="presParOf" srcId="{95DBA9A7-D925-46D6-8FF5-6D2650EA2F25}" destId="{84D046EB-4BF8-49B8-8150-18252F7918AA}" srcOrd="0" destOrd="0" presId="urn:microsoft.com/office/officeart/2018/2/layout/IconVerticalSolidList"/>
    <dgm:cxn modelId="{97A23C4C-EA73-4020-94DC-14C1F636D9D2}" type="presParOf" srcId="{95DBA9A7-D925-46D6-8FF5-6D2650EA2F25}" destId="{3B61389B-93C6-4A87-9C38-43E7598DA910}" srcOrd="1" destOrd="0" presId="urn:microsoft.com/office/officeart/2018/2/layout/IconVerticalSolidList"/>
    <dgm:cxn modelId="{13C2FE27-F1B3-4731-91EC-6524F1BE7F52}" type="presParOf" srcId="{95DBA9A7-D925-46D6-8FF5-6D2650EA2F25}" destId="{5B48C9A2-FEE2-4856-97D3-EC10AB1720E7}" srcOrd="2" destOrd="0" presId="urn:microsoft.com/office/officeart/2018/2/layout/IconVerticalSolidList"/>
    <dgm:cxn modelId="{147A84E2-89D3-4560-8314-797EB2A62E9B}" type="presParOf" srcId="{95DBA9A7-D925-46D6-8FF5-6D2650EA2F25}" destId="{E85C569F-C19A-4109-8002-5EA649D1FA1B}" srcOrd="3" destOrd="0" presId="urn:microsoft.com/office/officeart/2018/2/layout/IconVerticalSolidList"/>
    <dgm:cxn modelId="{DDE72FBC-D46E-4FD7-A554-74875C2054D5}" type="presParOf" srcId="{4D2D42B1-1BB4-4F1B-B664-3CC9AF41D683}" destId="{1D4CE65C-ED0B-451F-97F3-64F308BCA98F}" srcOrd="1" destOrd="0" presId="urn:microsoft.com/office/officeart/2018/2/layout/IconVerticalSolidList"/>
    <dgm:cxn modelId="{F121E4EC-18BA-402B-A1D4-0285A63A6582}" type="presParOf" srcId="{4D2D42B1-1BB4-4F1B-B664-3CC9AF41D683}" destId="{1BC7E462-9DB5-4D46-8798-1C0974009518}" srcOrd="2" destOrd="0" presId="urn:microsoft.com/office/officeart/2018/2/layout/IconVerticalSolidList"/>
    <dgm:cxn modelId="{DDF9E379-15B0-4DA4-B3D8-28721A8EE0A2}" type="presParOf" srcId="{1BC7E462-9DB5-4D46-8798-1C0974009518}" destId="{831AAF3F-EE9B-4C07-80E0-874DA71ED046}" srcOrd="0" destOrd="0" presId="urn:microsoft.com/office/officeart/2018/2/layout/IconVerticalSolidList"/>
    <dgm:cxn modelId="{AD7B6394-1FFF-4B97-BFA4-21BBEFDAB256}" type="presParOf" srcId="{1BC7E462-9DB5-4D46-8798-1C0974009518}" destId="{6FDBE415-DFE2-4E0C-9E8C-52F1CD6D65F5}" srcOrd="1" destOrd="0" presId="urn:microsoft.com/office/officeart/2018/2/layout/IconVerticalSolidList"/>
    <dgm:cxn modelId="{012419E2-03C8-4F1A-9DD8-7837DD665BEA}" type="presParOf" srcId="{1BC7E462-9DB5-4D46-8798-1C0974009518}" destId="{9DC4ACCA-9080-4588-992B-22460C6E5024}" srcOrd="2" destOrd="0" presId="urn:microsoft.com/office/officeart/2018/2/layout/IconVerticalSolidList"/>
    <dgm:cxn modelId="{3277539F-4BEC-4A65-BC02-0319FBE3493A}" type="presParOf" srcId="{1BC7E462-9DB5-4D46-8798-1C0974009518}" destId="{2F43AA93-B196-4BD5-A989-E61A02BF5F32}" srcOrd="3" destOrd="0" presId="urn:microsoft.com/office/officeart/2018/2/layout/IconVerticalSolidList"/>
    <dgm:cxn modelId="{2ADE2E99-BE42-4B19-B642-A2ACAF6A1BF0}" type="presParOf" srcId="{4D2D42B1-1BB4-4F1B-B664-3CC9AF41D683}" destId="{915795B1-1951-46BB-8917-B31756BFE032}" srcOrd="3" destOrd="0" presId="urn:microsoft.com/office/officeart/2018/2/layout/IconVerticalSolidList"/>
    <dgm:cxn modelId="{6D4375AE-4CFA-4EB0-9D04-C5ED1DBC4A82}" type="presParOf" srcId="{4D2D42B1-1BB4-4F1B-B664-3CC9AF41D683}" destId="{6276D413-D2EF-43C0-8A24-D0F73E4A8983}" srcOrd="4" destOrd="0" presId="urn:microsoft.com/office/officeart/2018/2/layout/IconVerticalSolidList"/>
    <dgm:cxn modelId="{75BD25C1-3434-44A8-8724-54A0327A11D5}" type="presParOf" srcId="{6276D413-D2EF-43C0-8A24-D0F73E4A8983}" destId="{CCA79B5D-5BA2-42F2-8A56-00DB9A42F4EC}" srcOrd="0" destOrd="0" presId="urn:microsoft.com/office/officeart/2018/2/layout/IconVerticalSolidList"/>
    <dgm:cxn modelId="{1C4FAA72-8CE0-4A4F-8FAB-3B2FFAF81942}" type="presParOf" srcId="{6276D413-D2EF-43C0-8A24-D0F73E4A8983}" destId="{8B08BC27-A22A-48D5-99D5-04A596A3FC94}" srcOrd="1" destOrd="0" presId="urn:microsoft.com/office/officeart/2018/2/layout/IconVerticalSolidList"/>
    <dgm:cxn modelId="{BDA3665D-21F2-4C26-B915-E2A33433B92E}" type="presParOf" srcId="{6276D413-D2EF-43C0-8A24-D0F73E4A8983}" destId="{680826A4-EBC0-4648-9793-7E2CB5F038A3}" srcOrd="2" destOrd="0" presId="urn:microsoft.com/office/officeart/2018/2/layout/IconVerticalSolidList"/>
    <dgm:cxn modelId="{C80D0E05-924C-409F-9B83-B3549CBFDD23}" type="presParOf" srcId="{6276D413-D2EF-43C0-8A24-D0F73E4A8983}" destId="{9D3FC361-309F-475A-B9A7-A23A362A154A}" srcOrd="3" destOrd="0" presId="urn:microsoft.com/office/officeart/2018/2/layout/IconVerticalSolidList"/>
    <dgm:cxn modelId="{D590B22D-F6A0-4E64-A979-4987D2D24BEC}" type="presParOf" srcId="{4D2D42B1-1BB4-4F1B-B664-3CC9AF41D683}" destId="{C75C7E8A-A0C2-4E1A-AAE2-C18818CADB09}" srcOrd="5" destOrd="0" presId="urn:microsoft.com/office/officeart/2018/2/layout/IconVerticalSolidList"/>
    <dgm:cxn modelId="{5DC9311A-C3F4-4F21-8DFF-DEB24A6086C2}" type="presParOf" srcId="{4D2D42B1-1BB4-4F1B-B664-3CC9AF41D683}" destId="{5CBA49A6-6160-43E8-A9CB-15AC5F81FDB8}" srcOrd="6" destOrd="0" presId="urn:microsoft.com/office/officeart/2018/2/layout/IconVerticalSolidList"/>
    <dgm:cxn modelId="{C8BD0335-5C74-4F23-B96A-C164CE8FF89E}" type="presParOf" srcId="{5CBA49A6-6160-43E8-A9CB-15AC5F81FDB8}" destId="{EFF6FCB2-8FB7-4C96-903D-473D3E664270}" srcOrd="0" destOrd="0" presId="urn:microsoft.com/office/officeart/2018/2/layout/IconVerticalSolidList"/>
    <dgm:cxn modelId="{C7C7BA0B-4D64-494D-A92A-E9C85FBEB52E}" type="presParOf" srcId="{5CBA49A6-6160-43E8-A9CB-15AC5F81FDB8}" destId="{8D92A9A7-99D2-47C4-B4AC-6DBD21F2D1C8}" srcOrd="1" destOrd="0" presId="urn:microsoft.com/office/officeart/2018/2/layout/IconVerticalSolidList"/>
    <dgm:cxn modelId="{53ECCEF7-9576-495A-929B-9407372323B0}" type="presParOf" srcId="{5CBA49A6-6160-43E8-A9CB-15AC5F81FDB8}" destId="{02BE4955-3E10-4EAB-A861-424CC6834D90}" srcOrd="2" destOrd="0" presId="urn:microsoft.com/office/officeart/2018/2/layout/IconVerticalSolidList"/>
    <dgm:cxn modelId="{AED6BE8F-EE2D-427E-8C2C-C7BC4EB7C123}" type="presParOf" srcId="{5CBA49A6-6160-43E8-A9CB-15AC5F81FDB8}" destId="{6800B02F-9C8D-4366-9586-9DE4C17493FC}"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84F2DBF-A0B4-49F9-99FF-114A111D673B}"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BAB6DCBF-D050-4E18-B7DE-D726878962F9}">
      <dgm:prSet/>
      <dgm:spPr/>
      <dgm:t>
        <a:bodyPr/>
        <a:lstStyle/>
        <a:p>
          <a:r>
            <a:rPr lang="en-US"/>
            <a:t>Communication overhead dominates computational benefits for simple arithmetic operations </a:t>
          </a:r>
        </a:p>
      </dgm:t>
    </dgm:pt>
    <dgm:pt modelId="{F0711910-DE4A-48D8-9608-DD47C4E6F4AB}" type="parTrans" cxnId="{D4BB2B60-2C6E-432C-AFB0-64B09FE06DA8}">
      <dgm:prSet/>
      <dgm:spPr/>
      <dgm:t>
        <a:bodyPr/>
        <a:lstStyle/>
        <a:p>
          <a:endParaRPr lang="en-US"/>
        </a:p>
      </dgm:t>
    </dgm:pt>
    <dgm:pt modelId="{8390755D-4339-474B-9A13-D1C222AD304F}" type="sibTrans" cxnId="{D4BB2B60-2C6E-432C-AFB0-64B09FE06DA8}">
      <dgm:prSet/>
      <dgm:spPr/>
      <dgm:t>
        <a:bodyPr/>
        <a:lstStyle/>
        <a:p>
          <a:endParaRPr lang="en-US"/>
        </a:p>
      </dgm:t>
    </dgm:pt>
    <dgm:pt modelId="{C7E1CF16-E309-42B6-BE62-3671A35BDA2E}">
      <dgm:prSet/>
      <dgm:spPr/>
      <dgm:t>
        <a:bodyPr/>
        <a:lstStyle/>
        <a:p>
          <a:r>
            <a:rPr lang="en-US"/>
            <a:t>Distributed system underperformed centralized processing: </a:t>
          </a:r>
        </a:p>
      </dgm:t>
    </dgm:pt>
    <dgm:pt modelId="{0FD9E2C8-BDDE-4A9A-9FC9-5322ED4411BC}" type="parTrans" cxnId="{97080C78-79BA-407A-91F5-8CAE1D4E3C1E}">
      <dgm:prSet/>
      <dgm:spPr/>
      <dgm:t>
        <a:bodyPr/>
        <a:lstStyle/>
        <a:p>
          <a:endParaRPr lang="en-US"/>
        </a:p>
      </dgm:t>
    </dgm:pt>
    <dgm:pt modelId="{9F21BE86-C172-43A6-867E-A59365A25EE7}" type="sibTrans" cxnId="{97080C78-79BA-407A-91F5-8CAE1D4E3C1E}">
      <dgm:prSet/>
      <dgm:spPr/>
      <dgm:t>
        <a:bodyPr/>
        <a:lstStyle/>
        <a:p>
          <a:endParaRPr lang="en-US"/>
        </a:p>
      </dgm:t>
    </dgm:pt>
    <dgm:pt modelId="{0F6C2F5B-F517-4303-9567-8E55EA19F0E4}">
      <dgm:prSet/>
      <dgm:spPr/>
      <dgm:t>
        <a:bodyPr/>
        <a:lstStyle/>
        <a:p>
          <a:r>
            <a:rPr lang="en-US"/>
            <a:t>50-140x worse throughput </a:t>
          </a:r>
        </a:p>
      </dgm:t>
    </dgm:pt>
    <dgm:pt modelId="{116ECE3A-FD3F-40F6-8ED5-A994A775C8CF}" type="parTrans" cxnId="{FC769B43-60D6-40A1-9211-A989276E6293}">
      <dgm:prSet/>
      <dgm:spPr/>
      <dgm:t>
        <a:bodyPr/>
        <a:lstStyle/>
        <a:p>
          <a:endParaRPr lang="en-US"/>
        </a:p>
      </dgm:t>
    </dgm:pt>
    <dgm:pt modelId="{881B0380-D539-49CF-A043-0007E944AAE9}" type="sibTrans" cxnId="{FC769B43-60D6-40A1-9211-A989276E6293}">
      <dgm:prSet/>
      <dgm:spPr/>
      <dgm:t>
        <a:bodyPr/>
        <a:lstStyle/>
        <a:p>
          <a:endParaRPr lang="en-US"/>
        </a:p>
      </dgm:t>
    </dgm:pt>
    <dgm:pt modelId="{85AAEDD0-7135-4B53-B0CA-300B407BBBF7}">
      <dgm:prSet/>
      <dgm:spPr/>
      <dgm:t>
        <a:bodyPr/>
        <a:lstStyle/>
        <a:p>
          <a:r>
            <a:rPr lang="en-US"/>
            <a:t>100-160x worse latency</a:t>
          </a:r>
        </a:p>
      </dgm:t>
    </dgm:pt>
    <dgm:pt modelId="{A8AE9F78-1405-483C-B117-41E253D27BE0}" type="parTrans" cxnId="{7E66C1A2-CA5B-473B-A5AB-7FD0ECFAB183}">
      <dgm:prSet/>
      <dgm:spPr/>
      <dgm:t>
        <a:bodyPr/>
        <a:lstStyle/>
        <a:p>
          <a:endParaRPr lang="en-US"/>
        </a:p>
      </dgm:t>
    </dgm:pt>
    <dgm:pt modelId="{96CED970-B4B2-41C9-AE3E-78ECEBF9A997}" type="sibTrans" cxnId="{7E66C1A2-CA5B-473B-A5AB-7FD0ECFAB183}">
      <dgm:prSet/>
      <dgm:spPr/>
      <dgm:t>
        <a:bodyPr/>
        <a:lstStyle/>
        <a:p>
          <a:endParaRPr lang="en-US"/>
        </a:p>
      </dgm:t>
    </dgm:pt>
    <dgm:pt modelId="{5B134B5B-B725-4968-AD0F-45A1E9AA374C}" type="pres">
      <dgm:prSet presAssocID="{284F2DBF-A0B4-49F9-99FF-114A111D673B}" presName="root" presStyleCnt="0">
        <dgm:presLayoutVars>
          <dgm:dir/>
          <dgm:resizeHandles val="exact"/>
        </dgm:presLayoutVars>
      </dgm:prSet>
      <dgm:spPr/>
    </dgm:pt>
    <dgm:pt modelId="{4A9FF7D9-07D7-4B11-B5F1-20D1A4350282}" type="pres">
      <dgm:prSet presAssocID="{BAB6DCBF-D050-4E18-B7DE-D726878962F9}" presName="compNode" presStyleCnt="0"/>
      <dgm:spPr/>
    </dgm:pt>
    <dgm:pt modelId="{A2A1975A-3C51-4AF5-B920-A93FF151D355}" type="pres">
      <dgm:prSet presAssocID="{BAB6DCBF-D050-4E18-B7DE-D726878962F9}" presName="bgRect" presStyleLbl="bgShp" presStyleIdx="0" presStyleCnt="2"/>
      <dgm:spPr/>
    </dgm:pt>
    <dgm:pt modelId="{528BC9FD-4AEC-4266-B812-941AD7B0F1A1}" type="pres">
      <dgm:prSet presAssocID="{BAB6DCBF-D050-4E18-B7DE-D726878962F9}"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alculator"/>
        </a:ext>
      </dgm:extLst>
    </dgm:pt>
    <dgm:pt modelId="{B60322B6-41A6-49B9-8C4F-3618F4B34123}" type="pres">
      <dgm:prSet presAssocID="{BAB6DCBF-D050-4E18-B7DE-D726878962F9}" presName="spaceRect" presStyleCnt="0"/>
      <dgm:spPr/>
    </dgm:pt>
    <dgm:pt modelId="{41FFA8F8-EF7A-48A1-A0CB-9EA499E5F3F3}" type="pres">
      <dgm:prSet presAssocID="{BAB6DCBF-D050-4E18-B7DE-D726878962F9}" presName="parTx" presStyleLbl="revTx" presStyleIdx="0" presStyleCnt="3">
        <dgm:presLayoutVars>
          <dgm:chMax val="0"/>
          <dgm:chPref val="0"/>
        </dgm:presLayoutVars>
      </dgm:prSet>
      <dgm:spPr/>
    </dgm:pt>
    <dgm:pt modelId="{5BA4EFA7-50B4-41EE-9F7F-5D6126D6E4AF}" type="pres">
      <dgm:prSet presAssocID="{8390755D-4339-474B-9A13-D1C222AD304F}" presName="sibTrans" presStyleCnt="0"/>
      <dgm:spPr/>
    </dgm:pt>
    <dgm:pt modelId="{8B7F20A4-D271-4FBC-BD36-FA81DF7D5089}" type="pres">
      <dgm:prSet presAssocID="{C7E1CF16-E309-42B6-BE62-3671A35BDA2E}" presName="compNode" presStyleCnt="0"/>
      <dgm:spPr/>
    </dgm:pt>
    <dgm:pt modelId="{D5D0C354-4700-4DE3-8600-FE3BFE345750}" type="pres">
      <dgm:prSet presAssocID="{C7E1CF16-E309-42B6-BE62-3671A35BDA2E}" presName="bgRect" presStyleLbl="bgShp" presStyleIdx="1" presStyleCnt="2"/>
      <dgm:spPr/>
    </dgm:pt>
    <dgm:pt modelId="{63E1D0A4-7CCD-483A-AD6E-6B0FD120DA5B}" type="pres">
      <dgm:prSet presAssocID="{C7E1CF16-E309-42B6-BE62-3671A35BDA2E}"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sor"/>
        </a:ext>
      </dgm:extLst>
    </dgm:pt>
    <dgm:pt modelId="{D0555A38-7D09-4EDF-AAFD-7D9874759A73}" type="pres">
      <dgm:prSet presAssocID="{C7E1CF16-E309-42B6-BE62-3671A35BDA2E}" presName="spaceRect" presStyleCnt="0"/>
      <dgm:spPr/>
    </dgm:pt>
    <dgm:pt modelId="{79B990AF-6EBC-4F98-B3F4-FD86E10191A0}" type="pres">
      <dgm:prSet presAssocID="{C7E1CF16-E309-42B6-BE62-3671A35BDA2E}" presName="parTx" presStyleLbl="revTx" presStyleIdx="1" presStyleCnt="3">
        <dgm:presLayoutVars>
          <dgm:chMax val="0"/>
          <dgm:chPref val="0"/>
        </dgm:presLayoutVars>
      </dgm:prSet>
      <dgm:spPr/>
    </dgm:pt>
    <dgm:pt modelId="{6AC397CC-A505-42B7-AE4A-C0C5A6111512}" type="pres">
      <dgm:prSet presAssocID="{C7E1CF16-E309-42B6-BE62-3671A35BDA2E}" presName="desTx" presStyleLbl="revTx" presStyleIdx="2" presStyleCnt="3">
        <dgm:presLayoutVars/>
      </dgm:prSet>
      <dgm:spPr/>
    </dgm:pt>
  </dgm:ptLst>
  <dgm:cxnLst>
    <dgm:cxn modelId="{706AA31B-1E02-43B7-8C8A-3B75351F345D}" type="presOf" srcId="{0F6C2F5B-F517-4303-9567-8E55EA19F0E4}" destId="{6AC397CC-A505-42B7-AE4A-C0C5A6111512}" srcOrd="0" destOrd="0" presId="urn:microsoft.com/office/officeart/2018/2/layout/IconVerticalSolidList"/>
    <dgm:cxn modelId="{D4BB2B60-2C6E-432C-AFB0-64B09FE06DA8}" srcId="{284F2DBF-A0B4-49F9-99FF-114A111D673B}" destId="{BAB6DCBF-D050-4E18-B7DE-D726878962F9}" srcOrd="0" destOrd="0" parTransId="{F0711910-DE4A-48D8-9608-DD47C4E6F4AB}" sibTransId="{8390755D-4339-474B-9A13-D1C222AD304F}"/>
    <dgm:cxn modelId="{FC769B43-60D6-40A1-9211-A989276E6293}" srcId="{C7E1CF16-E309-42B6-BE62-3671A35BDA2E}" destId="{0F6C2F5B-F517-4303-9567-8E55EA19F0E4}" srcOrd="0" destOrd="0" parTransId="{116ECE3A-FD3F-40F6-8ED5-A994A775C8CF}" sibTransId="{881B0380-D539-49CF-A043-0007E944AAE9}"/>
    <dgm:cxn modelId="{97080C78-79BA-407A-91F5-8CAE1D4E3C1E}" srcId="{284F2DBF-A0B4-49F9-99FF-114A111D673B}" destId="{C7E1CF16-E309-42B6-BE62-3671A35BDA2E}" srcOrd="1" destOrd="0" parTransId="{0FD9E2C8-BDDE-4A9A-9FC9-5322ED4411BC}" sibTransId="{9F21BE86-C172-43A6-867E-A59365A25EE7}"/>
    <dgm:cxn modelId="{02A4C55A-4FC5-4C3C-A6EB-BCF249F15018}" type="presOf" srcId="{85AAEDD0-7135-4B53-B0CA-300B407BBBF7}" destId="{6AC397CC-A505-42B7-AE4A-C0C5A6111512}" srcOrd="0" destOrd="1" presId="urn:microsoft.com/office/officeart/2018/2/layout/IconVerticalSolidList"/>
    <dgm:cxn modelId="{7E66C1A2-CA5B-473B-A5AB-7FD0ECFAB183}" srcId="{C7E1CF16-E309-42B6-BE62-3671A35BDA2E}" destId="{85AAEDD0-7135-4B53-B0CA-300B407BBBF7}" srcOrd="1" destOrd="0" parTransId="{A8AE9F78-1405-483C-B117-41E253D27BE0}" sibTransId="{96CED970-B4B2-41C9-AE3E-78ECEBF9A997}"/>
    <dgm:cxn modelId="{EFDBABAF-89AE-410B-B08A-7020FC96E5A0}" type="presOf" srcId="{C7E1CF16-E309-42B6-BE62-3671A35BDA2E}" destId="{79B990AF-6EBC-4F98-B3F4-FD86E10191A0}" srcOrd="0" destOrd="0" presId="urn:microsoft.com/office/officeart/2018/2/layout/IconVerticalSolidList"/>
    <dgm:cxn modelId="{F1CF60BE-8FDC-44BD-8519-F31BCE449C36}" type="presOf" srcId="{BAB6DCBF-D050-4E18-B7DE-D726878962F9}" destId="{41FFA8F8-EF7A-48A1-A0CB-9EA499E5F3F3}" srcOrd="0" destOrd="0" presId="urn:microsoft.com/office/officeart/2018/2/layout/IconVerticalSolidList"/>
    <dgm:cxn modelId="{19630EEE-F524-4B4B-97BB-F3CBAF7456CF}" type="presOf" srcId="{284F2DBF-A0B4-49F9-99FF-114A111D673B}" destId="{5B134B5B-B725-4968-AD0F-45A1E9AA374C}" srcOrd="0" destOrd="0" presId="urn:microsoft.com/office/officeart/2018/2/layout/IconVerticalSolidList"/>
    <dgm:cxn modelId="{33C9E791-65AB-4FEE-9220-C2F09AEBBD85}" type="presParOf" srcId="{5B134B5B-B725-4968-AD0F-45A1E9AA374C}" destId="{4A9FF7D9-07D7-4B11-B5F1-20D1A4350282}" srcOrd="0" destOrd="0" presId="urn:microsoft.com/office/officeart/2018/2/layout/IconVerticalSolidList"/>
    <dgm:cxn modelId="{6E4F115F-7A01-4702-BD3D-C6CE910896EE}" type="presParOf" srcId="{4A9FF7D9-07D7-4B11-B5F1-20D1A4350282}" destId="{A2A1975A-3C51-4AF5-B920-A93FF151D355}" srcOrd="0" destOrd="0" presId="urn:microsoft.com/office/officeart/2018/2/layout/IconVerticalSolidList"/>
    <dgm:cxn modelId="{28395BB6-9DE3-459E-96A8-FA6DCBE09363}" type="presParOf" srcId="{4A9FF7D9-07D7-4B11-B5F1-20D1A4350282}" destId="{528BC9FD-4AEC-4266-B812-941AD7B0F1A1}" srcOrd="1" destOrd="0" presId="urn:microsoft.com/office/officeart/2018/2/layout/IconVerticalSolidList"/>
    <dgm:cxn modelId="{943A5267-14B2-421D-B231-562DE4C26D9A}" type="presParOf" srcId="{4A9FF7D9-07D7-4B11-B5F1-20D1A4350282}" destId="{B60322B6-41A6-49B9-8C4F-3618F4B34123}" srcOrd="2" destOrd="0" presId="urn:microsoft.com/office/officeart/2018/2/layout/IconVerticalSolidList"/>
    <dgm:cxn modelId="{38C12A23-97C8-488C-BD65-965A272787AF}" type="presParOf" srcId="{4A9FF7D9-07D7-4B11-B5F1-20D1A4350282}" destId="{41FFA8F8-EF7A-48A1-A0CB-9EA499E5F3F3}" srcOrd="3" destOrd="0" presId="urn:microsoft.com/office/officeart/2018/2/layout/IconVerticalSolidList"/>
    <dgm:cxn modelId="{448DD1C6-1F4C-413B-AC1F-FBFC0ACDBD78}" type="presParOf" srcId="{5B134B5B-B725-4968-AD0F-45A1E9AA374C}" destId="{5BA4EFA7-50B4-41EE-9F7F-5D6126D6E4AF}" srcOrd="1" destOrd="0" presId="urn:microsoft.com/office/officeart/2018/2/layout/IconVerticalSolidList"/>
    <dgm:cxn modelId="{AD78E049-E955-4FB2-9E1E-78169E443455}" type="presParOf" srcId="{5B134B5B-B725-4968-AD0F-45A1E9AA374C}" destId="{8B7F20A4-D271-4FBC-BD36-FA81DF7D5089}" srcOrd="2" destOrd="0" presId="urn:microsoft.com/office/officeart/2018/2/layout/IconVerticalSolidList"/>
    <dgm:cxn modelId="{B27D2F15-4F65-4C20-97D6-77BC84572570}" type="presParOf" srcId="{8B7F20A4-D271-4FBC-BD36-FA81DF7D5089}" destId="{D5D0C354-4700-4DE3-8600-FE3BFE345750}" srcOrd="0" destOrd="0" presId="urn:microsoft.com/office/officeart/2018/2/layout/IconVerticalSolidList"/>
    <dgm:cxn modelId="{92AA4023-FF85-4CCD-AE58-45401169DB77}" type="presParOf" srcId="{8B7F20A4-D271-4FBC-BD36-FA81DF7D5089}" destId="{63E1D0A4-7CCD-483A-AD6E-6B0FD120DA5B}" srcOrd="1" destOrd="0" presId="urn:microsoft.com/office/officeart/2018/2/layout/IconVerticalSolidList"/>
    <dgm:cxn modelId="{12D29D7D-3D4A-4337-AFA1-4A5EEBB2F35B}" type="presParOf" srcId="{8B7F20A4-D271-4FBC-BD36-FA81DF7D5089}" destId="{D0555A38-7D09-4EDF-AAFD-7D9874759A73}" srcOrd="2" destOrd="0" presId="urn:microsoft.com/office/officeart/2018/2/layout/IconVerticalSolidList"/>
    <dgm:cxn modelId="{B34C619C-327A-45A8-A313-446E14ACB7DF}" type="presParOf" srcId="{8B7F20A4-D271-4FBC-BD36-FA81DF7D5089}" destId="{79B990AF-6EBC-4F98-B3F4-FD86E10191A0}" srcOrd="3" destOrd="0" presId="urn:microsoft.com/office/officeart/2018/2/layout/IconVerticalSolidList"/>
    <dgm:cxn modelId="{9274168B-BE7E-4277-8183-838E0B4AFACB}" type="presParOf" srcId="{8B7F20A4-D271-4FBC-BD36-FA81DF7D5089}" destId="{6AC397CC-A505-42B7-AE4A-C0C5A6111512}"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E8761B-15EF-4FE0-89E3-A4E8DC8ACDBB}">
      <dsp:nvSpPr>
        <dsp:cNvPr id="0" name=""/>
        <dsp:cNvSpPr/>
      </dsp:nvSpPr>
      <dsp:spPr>
        <a:xfrm>
          <a:off x="51" y="183069"/>
          <a:ext cx="4913783" cy="691200"/>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ctr" defTabSz="1066800">
            <a:lnSpc>
              <a:spcPct val="90000"/>
            </a:lnSpc>
            <a:spcBef>
              <a:spcPct val="0"/>
            </a:spcBef>
            <a:spcAft>
              <a:spcPct val="35000"/>
            </a:spcAft>
            <a:buNone/>
          </a:pPr>
          <a:r>
            <a:rPr lang="en-US" sz="2400" kern="1200"/>
            <a:t>Functional Requirements</a:t>
          </a:r>
        </a:p>
      </dsp:txBody>
      <dsp:txXfrm>
        <a:off x="51" y="183069"/>
        <a:ext cx="4913783" cy="691200"/>
      </dsp:txXfrm>
    </dsp:sp>
    <dsp:sp modelId="{42F1A880-90A9-4418-B934-D21ADB3E4682}">
      <dsp:nvSpPr>
        <dsp:cNvPr id="0" name=""/>
        <dsp:cNvSpPr/>
      </dsp:nvSpPr>
      <dsp:spPr>
        <a:xfrm>
          <a:off x="51" y="874269"/>
          <a:ext cx="4913783" cy="3294000"/>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a:lnSpc>
              <a:spcPct val="90000"/>
            </a:lnSpc>
            <a:spcBef>
              <a:spcPct val="0"/>
            </a:spcBef>
            <a:spcAft>
              <a:spcPct val="15000"/>
            </a:spcAft>
            <a:buChar char="•"/>
          </a:pPr>
          <a:r>
            <a:rPr lang="en-US" sz="2400" kern="1200"/>
            <a:t>Distributed Input Processing</a:t>
          </a:r>
        </a:p>
        <a:p>
          <a:pPr marL="228600" lvl="1" indent="-228600" algn="l" defTabSz="1066800">
            <a:lnSpc>
              <a:spcPct val="90000"/>
            </a:lnSpc>
            <a:spcBef>
              <a:spcPct val="0"/>
            </a:spcBef>
            <a:spcAft>
              <a:spcPct val="15000"/>
            </a:spcAft>
            <a:buChar char="•"/>
          </a:pPr>
          <a:r>
            <a:rPr lang="en-US" sz="2400" kern="1200"/>
            <a:t>Parallel Arithmetic Operations</a:t>
          </a:r>
        </a:p>
        <a:p>
          <a:pPr marL="228600" lvl="1" indent="-228600" algn="l" defTabSz="1066800">
            <a:lnSpc>
              <a:spcPct val="90000"/>
            </a:lnSpc>
            <a:spcBef>
              <a:spcPct val="0"/>
            </a:spcBef>
            <a:spcAft>
              <a:spcPct val="15000"/>
            </a:spcAft>
            <a:buChar char="•"/>
          </a:pPr>
          <a:r>
            <a:rPr lang="en-US" sz="2400" kern="1200"/>
            <a:t>Fault-Tolerant Communication</a:t>
          </a:r>
        </a:p>
        <a:p>
          <a:pPr marL="228600" lvl="1" indent="-228600" algn="l" defTabSz="1066800">
            <a:lnSpc>
              <a:spcPct val="90000"/>
            </a:lnSpc>
            <a:spcBef>
              <a:spcPct val="0"/>
            </a:spcBef>
            <a:spcAft>
              <a:spcPct val="15000"/>
            </a:spcAft>
            <a:buChar char="•"/>
          </a:pPr>
          <a:r>
            <a:rPr lang="en-US" sz="2400" kern="1200"/>
            <a:t>Synchronous Result Aggregation</a:t>
          </a:r>
        </a:p>
        <a:p>
          <a:pPr marL="228600" lvl="1" indent="-228600" algn="l" defTabSz="1066800">
            <a:lnSpc>
              <a:spcPct val="90000"/>
            </a:lnSpc>
            <a:spcBef>
              <a:spcPct val="0"/>
            </a:spcBef>
            <a:spcAft>
              <a:spcPct val="15000"/>
            </a:spcAft>
            <a:buChar char="•"/>
          </a:pPr>
          <a:r>
            <a:rPr lang="en-US" sz="2400" kern="1200"/>
            <a:t>Performance Monitoring and Analytics</a:t>
          </a:r>
        </a:p>
        <a:p>
          <a:pPr marL="228600" lvl="1" indent="-228600" algn="l" defTabSz="1066800">
            <a:lnSpc>
              <a:spcPct val="90000"/>
            </a:lnSpc>
            <a:spcBef>
              <a:spcPct val="0"/>
            </a:spcBef>
            <a:spcAft>
              <a:spcPct val="15000"/>
            </a:spcAft>
            <a:buChar char="•"/>
          </a:pPr>
          <a:r>
            <a:rPr lang="en-US" sz="2400" kern="1200"/>
            <a:t>Scalable Container Orchestration</a:t>
          </a:r>
        </a:p>
      </dsp:txBody>
      <dsp:txXfrm>
        <a:off x="51" y="874269"/>
        <a:ext cx="4913783" cy="3294000"/>
      </dsp:txXfrm>
    </dsp:sp>
    <dsp:sp modelId="{0CFB2D49-5895-404A-8614-AE20E5F11095}">
      <dsp:nvSpPr>
        <dsp:cNvPr id="0" name=""/>
        <dsp:cNvSpPr/>
      </dsp:nvSpPr>
      <dsp:spPr>
        <a:xfrm>
          <a:off x="5601764" y="183069"/>
          <a:ext cx="4913783" cy="691200"/>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ctr" defTabSz="1066800">
            <a:lnSpc>
              <a:spcPct val="90000"/>
            </a:lnSpc>
            <a:spcBef>
              <a:spcPct val="0"/>
            </a:spcBef>
            <a:spcAft>
              <a:spcPct val="35000"/>
            </a:spcAft>
            <a:buNone/>
          </a:pPr>
          <a:r>
            <a:rPr lang="en-US" sz="2400" kern="1200"/>
            <a:t>Non-Functional Requirements</a:t>
          </a:r>
        </a:p>
      </dsp:txBody>
      <dsp:txXfrm>
        <a:off x="5601764" y="183069"/>
        <a:ext cx="4913783" cy="691200"/>
      </dsp:txXfrm>
    </dsp:sp>
    <dsp:sp modelId="{E57CC652-AD44-487C-94F5-967124335608}">
      <dsp:nvSpPr>
        <dsp:cNvPr id="0" name=""/>
        <dsp:cNvSpPr/>
      </dsp:nvSpPr>
      <dsp:spPr>
        <a:xfrm>
          <a:off x="5601764" y="874269"/>
          <a:ext cx="4913783" cy="3294000"/>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l" defTabSz="1066800">
            <a:lnSpc>
              <a:spcPct val="90000"/>
            </a:lnSpc>
            <a:spcBef>
              <a:spcPct val="0"/>
            </a:spcBef>
            <a:spcAft>
              <a:spcPct val="15000"/>
            </a:spcAft>
            <a:buChar char="•"/>
          </a:pPr>
          <a:r>
            <a:rPr lang="en-US" sz="2400" kern="1200"/>
            <a:t>Scalability</a:t>
          </a:r>
        </a:p>
      </dsp:txBody>
      <dsp:txXfrm>
        <a:off x="5601764" y="874269"/>
        <a:ext cx="4913783" cy="3294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D046EB-4BF8-49B8-8150-18252F7918AA}">
      <dsp:nvSpPr>
        <dsp:cNvPr id="0" name=""/>
        <dsp:cNvSpPr/>
      </dsp:nvSpPr>
      <dsp:spPr>
        <a:xfrm>
          <a:off x="0" y="1805"/>
          <a:ext cx="10515600" cy="9153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B61389B-93C6-4A87-9C38-43E7598DA910}">
      <dsp:nvSpPr>
        <dsp:cNvPr id="0" name=""/>
        <dsp:cNvSpPr/>
      </dsp:nvSpPr>
      <dsp:spPr>
        <a:xfrm>
          <a:off x="276881" y="207750"/>
          <a:ext cx="503420" cy="50342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85C569F-C19A-4109-8002-5EA649D1FA1B}">
      <dsp:nvSpPr>
        <dsp:cNvPr id="0" name=""/>
        <dsp:cNvSpPr/>
      </dsp:nvSpPr>
      <dsp:spPr>
        <a:xfrm>
          <a:off x="1057183" y="1805"/>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33450">
            <a:lnSpc>
              <a:spcPct val="100000"/>
            </a:lnSpc>
            <a:spcBef>
              <a:spcPct val="0"/>
            </a:spcBef>
            <a:spcAft>
              <a:spcPct val="35000"/>
            </a:spcAft>
            <a:buNone/>
          </a:pPr>
          <a:r>
            <a:rPr lang="en-US" sz="2100" kern="1200"/>
            <a:t>The system shall synchronize computation results from distributed nodes and maintain consistency through centralized result collection and validation. </a:t>
          </a:r>
        </a:p>
      </dsp:txBody>
      <dsp:txXfrm>
        <a:off x="1057183" y="1805"/>
        <a:ext cx="9458416" cy="915310"/>
      </dsp:txXfrm>
    </dsp:sp>
    <dsp:sp modelId="{831AAF3F-EE9B-4C07-80E0-874DA71ED046}">
      <dsp:nvSpPr>
        <dsp:cNvPr id="0" name=""/>
        <dsp:cNvSpPr/>
      </dsp:nvSpPr>
      <dsp:spPr>
        <a:xfrm>
          <a:off x="0" y="1145944"/>
          <a:ext cx="10515600" cy="9153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FDBE415-DFE2-4E0C-9E8C-52F1CD6D65F5}">
      <dsp:nvSpPr>
        <dsp:cNvPr id="0" name=""/>
        <dsp:cNvSpPr/>
      </dsp:nvSpPr>
      <dsp:spPr>
        <a:xfrm>
          <a:off x="276881" y="1351889"/>
          <a:ext cx="503420" cy="50342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F43AA93-B196-4BD5-A989-E61A02BF5F32}">
      <dsp:nvSpPr>
        <dsp:cNvPr id="0" name=""/>
        <dsp:cNvSpPr/>
      </dsp:nvSpPr>
      <dsp:spPr>
        <a:xfrm>
          <a:off x="1057183" y="1145944"/>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33450">
            <a:lnSpc>
              <a:spcPct val="100000"/>
            </a:lnSpc>
            <a:spcBef>
              <a:spcPct val="0"/>
            </a:spcBef>
            <a:spcAft>
              <a:spcPct val="35000"/>
            </a:spcAft>
            <a:buNone/>
          </a:pPr>
          <a:r>
            <a:rPr lang="en-US" sz="2100" kern="1200"/>
            <a:t>Display node serves as the centralized result aggregator </a:t>
          </a:r>
        </a:p>
      </dsp:txBody>
      <dsp:txXfrm>
        <a:off x="1057183" y="1145944"/>
        <a:ext cx="9458416" cy="915310"/>
      </dsp:txXfrm>
    </dsp:sp>
    <dsp:sp modelId="{CCA79B5D-5BA2-42F2-8A56-00DB9A42F4EC}">
      <dsp:nvSpPr>
        <dsp:cNvPr id="0" name=""/>
        <dsp:cNvSpPr/>
      </dsp:nvSpPr>
      <dsp:spPr>
        <a:xfrm>
          <a:off x="0" y="2290082"/>
          <a:ext cx="10515600" cy="9153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B08BC27-A22A-48D5-99D5-04A596A3FC94}">
      <dsp:nvSpPr>
        <dsp:cNvPr id="0" name=""/>
        <dsp:cNvSpPr/>
      </dsp:nvSpPr>
      <dsp:spPr>
        <a:xfrm>
          <a:off x="276881" y="2496027"/>
          <a:ext cx="503420" cy="50342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D3FC361-309F-475A-B9A7-A23A362A154A}">
      <dsp:nvSpPr>
        <dsp:cNvPr id="0" name=""/>
        <dsp:cNvSpPr/>
      </dsp:nvSpPr>
      <dsp:spPr>
        <a:xfrm>
          <a:off x="1057183" y="2290082"/>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33450">
            <a:lnSpc>
              <a:spcPct val="100000"/>
            </a:lnSpc>
            <a:spcBef>
              <a:spcPct val="0"/>
            </a:spcBef>
            <a:spcAft>
              <a:spcPct val="35000"/>
            </a:spcAft>
            <a:buNone/>
          </a:pPr>
          <a:r>
            <a:rPr lang="en-US" sz="2100" kern="1200"/>
            <a:t>Result counting and validation </a:t>
          </a:r>
        </a:p>
      </dsp:txBody>
      <dsp:txXfrm>
        <a:off x="1057183" y="2290082"/>
        <a:ext cx="9458416" cy="915310"/>
      </dsp:txXfrm>
    </dsp:sp>
    <dsp:sp modelId="{EFF6FCB2-8FB7-4C96-903D-473D3E664270}">
      <dsp:nvSpPr>
        <dsp:cNvPr id="0" name=""/>
        <dsp:cNvSpPr/>
      </dsp:nvSpPr>
      <dsp:spPr>
        <a:xfrm>
          <a:off x="0" y="3434221"/>
          <a:ext cx="10515600" cy="9153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D92A9A7-99D2-47C4-B4AC-6DBD21F2D1C8}">
      <dsp:nvSpPr>
        <dsp:cNvPr id="0" name=""/>
        <dsp:cNvSpPr/>
      </dsp:nvSpPr>
      <dsp:spPr>
        <a:xfrm>
          <a:off x="276881" y="3640166"/>
          <a:ext cx="503420" cy="50342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800B02F-9C8D-4366-9586-9DE4C17493FC}">
      <dsp:nvSpPr>
        <dsp:cNvPr id="0" name=""/>
        <dsp:cNvSpPr/>
      </dsp:nvSpPr>
      <dsp:spPr>
        <a:xfrm>
          <a:off x="1057183" y="3434221"/>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33450">
            <a:lnSpc>
              <a:spcPct val="100000"/>
            </a:lnSpc>
            <a:spcBef>
              <a:spcPct val="0"/>
            </a:spcBef>
            <a:spcAft>
              <a:spcPct val="35000"/>
            </a:spcAft>
            <a:buNone/>
          </a:pPr>
          <a:r>
            <a:rPr lang="en-US" sz="2100" kern="1200"/>
            <a:t>Synchronization mechanism </a:t>
          </a:r>
        </a:p>
      </dsp:txBody>
      <dsp:txXfrm>
        <a:off x="1057183" y="3434221"/>
        <a:ext cx="9458416" cy="91531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2A1975A-3C51-4AF5-B920-A93FF151D355}">
      <dsp:nvSpPr>
        <dsp:cNvPr id="0" name=""/>
        <dsp:cNvSpPr/>
      </dsp:nvSpPr>
      <dsp:spPr>
        <a:xfrm>
          <a:off x="0" y="894261"/>
          <a:ext cx="5861090" cy="165094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28BC9FD-4AEC-4266-B812-941AD7B0F1A1}">
      <dsp:nvSpPr>
        <dsp:cNvPr id="0" name=""/>
        <dsp:cNvSpPr/>
      </dsp:nvSpPr>
      <dsp:spPr>
        <a:xfrm>
          <a:off x="499410" y="1265724"/>
          <a:ext cx="908019" cy="90801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1FFA8F8-EF7A-48A1-A0CB-9EA499E5F3F3}">
      <dsp:nvSpPr>
        <dsp:cNvPr id="0" name=""/>
        <dsp:cNvSpPr/>
      </dsp:nvSpPr>
      <dsp:spPr>
        <a:xfrm>
          <a:off x="1906841" y="894261"/>
          <a:ext cx="3954248" cy="16509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4725" tIns="174725" rIns="174725" bIns="174725" numCol="1" spcCol="1270" anchor="ctr" anchorCtr="0">
          <a:noAutofit/>
        </a:bodyPr>
        <a:lstStyle/>
        <a:p>
          <a:pPr marL="0" lvl="0" indent="0" algn="l" defTabSz="977900">
            <a:lnSpc>
              <a:spcPct val="90000"/>
            </a:lnSpc>
            <a:spcBef>
              <a:spcPct val="0"/>
            </a:spcBef>
            <a:spcAft>
              <a:spcPct val="35000"/>
            </a:spcAft>
            <a:buNone/>
          </a:pPr>
          <a:r>
            <a:rPr lang="en-US" sz="2200" kern="1200"/>
            <a:t>Communication overhead dominates computational benefits for simple arithmetic operations </a:t>
          </a:r>
        </a:p>
      </dsp:txBody>
      <dsp:txXfrm>
        <a:off x="1906841" y="894261"/>
        <a:ext cx="3954248" cy="1650945"/>
      </dsp:txXfrm>
    </dsp:sp>
    <dsp:sp modelId="{D5D0C354-4700-4DE3-8600-FE3BFE345750}">
      <dsp:nvSpPr>
        <dsp:cNvPr id="0" name=""/>
        <dsp:cNvSpPr/>
      </dsp:nvSpPr>
      <dsp:spPr>
        <a:xfrm>
          <a:off x="0" y="2957943"/>
          <a:ext cx="5861090" cy="165094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3E1D0A4-7CCD-483A-AD6E-6B0FD120DA5B}">
      <dsp:nvSpPr>
        <dsp:cNvPr id="0" name=""/>
        <dsp:cNvSpPr/>
      </dsp:nvSpPr>
      <dsp:spPr>
        <a:xfrm>
          <a:off x="499410" y="3329405"/>
          <a:ext cx="908019" cy="90801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9B990AF-6EBC-4F98-B3F4-FD86E10191A0}">
      <dsp:nvSpPr>
        <dsp:cNvPr id="0" name=""/>
        <dsp:cNvSpPr/>
      </dsp:nvSpPr>
      <dsp:spPr>
        <a:xfrm>
          <a:off x="1906841" y="2957943"/>
          <a:ext cx="2637490" cy="16509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4725" tIns="174725" rIns="174725" bIns="174725" numCol="1" spcCol="1270" anchor="ctr" anchorCtr="0">
          <a:noAutofit/>
        </a:bodyPr>
        <a:lstStyle/>
        <a:p>
          <a:pPr marL="0" lvl="0" indent="0" algn="l" defTabSz="977900">
            <a:lnSpc>
              <a:spcPct val="90000"/>
            </a:lnSpc>
            <a:spcBef>
              <a:spcPct val="0"/>
            </a:spcBef>
            <a:spcAft>
              <a:spcPct val="35000"/>
            </a:spcAft>
            <a:buNone/>
          </a:pPr>
          <a:r>
            <a:rPr lang="en-US" sz="2200" kern="1200"/>
            <a:t>Distributed system underperformed centralized processing: </a:t>
          </a:r>
        </a:p>
      </dsp:txBody>
      <dsp:txXfrm>
        <a:off x="1906841" y="2957943"/>
        <a:ext cx="2637490" cy="1650945"/>
      </dsp:txXfrm>
    </dsp:sp>
    <dsp:sp modelId="{6AC397CC-A505-42B7-AE4A-C0C5A6111512}">
      <dsp:nvSpPr>
        <dsp:cNvPr id="0" name=""/>
        <dsp:cNvSpPr/>
      </dsp:nvSpPr>
      <dsp:spPr>
        <a:xfrm>
          <a:off x="4544331" y="2957943"/>
          <a:ext cx="1316758" cy="16509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4725" tIns="174725" rIns="174725" bIns="174725" numCol="1" spcCol="1270" anchor="ctr" anchorCtr="0">
          <a:noAutofit/>
        </a:bodyPr>
        <a:lstStyle/>
        <a:p>
          <a:pPr marL="0" lvl="0" indent="0" algn="l" defTabSz="622300">
            <a:lnSpc>
              <a:spcPct val="90000"/>
            </a:lnSpc>
            <a:spcBef>
              <a:spcPct val="0"/>
            </a:spcBef>
            <a:spcAft>
              <a:spcPct val="35000"/>
            </a:spcAft>
            <a:buNone/>
          </a:pPr>
          <a:r>
            <a:rPr lang="en-US" sz="1400" kern="1200"/>
            <a:t>50-140x worse throughput </a:t>
          </a:r>
        </a:p>
        <a:p>
          <a:pPr marL="0" lvl="0" indent="0" algn="l" defTabSz="622300">
            <a:lnSpc>
              <a:spcPct val="90000"/>
            </a:lnSpc>
            <a:spcBef>
              <a:spcPct val="0"/>
            </a:spcBef>
            <a:spcAft>
              <a:spcPct val="35000"/>
            </a:spcAft>
            <a:buNone/>
          </a:pPr>
          <a:r>
            <a:rPr lang="en-US" sz="1400" kern="1200"/>
            <a:t>100-160x worse latency</a:t>
          </a:r>
        </a:p>
      </dsp:txBody>
      <dsp:txXfrm>
        <a:off x="4544331" y="2957943"/>
        <a:ext cx="1316758" cy="1650945"/>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BC88D3-5F0B-B545-9E12-15C60F08A526}" type="datetimeFigureOut">
              <a:rPr lang="en-US" smtClean="0"/>
              <a:t>2/25/2026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3EAE3EC-0CEA-D04E-AC42-0082EAC6C07A}" type="slidenum">
              <a:rPr lang="en-US" smtClean="0"/>
              <a:t>‹#›</a:t>
            </a:fld>
            <a:endParaRPr lang="en-US"/>
          </a:p>
        </p:txBody>
      </p:sp>
    </p:spTree>
    <p:extLst>
      <p:ext uri="{BB962C8B-B14F-4D97-AF65-F5344CB8AC3E}">
        <p14:creationId xmlns:p14="http://schemas.microsoft.com/office/powerpoint/2010/main" val="295878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3EAE3EC-0CEA-D04E-AC42-0082EAC6C07A}" type="slidenum">
              <a:rPr lang="en-US" smtClean="0"/>
              <a:t>19</a:t>
            </a:fld>
            <a:endParaRPr lang="en-US"/>
          </a:p>
        </p:txBody>
      </p:sp>
    </p:spTree>
    <p:extLst>
      <p:ext uri="{BB962C8B-B14F-4D97-AF65-F5344CB8AC3E}">
        <p14:creationId xmlns:p14="http://schemas.microsoft.com/office/powerpoint/2010/main" val="28481609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2/25/2026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2/25/2026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2/25/2026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2/25/2026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2/25/2026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2/25/2026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2/25/2026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2/25/2026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8.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top view of colorful abacus">
            <a:extLst>
              <a:ext uri="{FF2B5EF4-FFF2-40B4-BE49-F238E27FC236}">
                <a16:creationId xmlns:a16="http://schemas.microsoft.com/office/drawing/2014/main" id="{BF696E4F-29B8-29DA-594F-0F9F279E5CD8}"/>
              </a:ext>
            </a:extLst>
          </p:cNvPr>
          <p:cNvPicPr>
            <a:picLocks noChangeAspect="1"/>
          </p:cNvPicPr>
          <p:nvPr/>
        </p:nvPicPr>
        <p:blipFill>
          <a:blip r:embed="rId2">
            <a:alphaModFix amt="50000"/>
          </a:blip>
          <a:srcRect t="10586" r="-2" b="5017"/>
          <a:stretch>
            <a:fillRect/>
          </a:stretch>
        </p:blipFill>
        <p:spPr>
          <a:xfrm>
            <a:off x="20" y="1"/>
            <a:ext cx="12191980" cy="6857999"/>
          </a:xfrm>
          <a:prstGeom prst="rect">
            <a:avLst/>
          </a:prstGeom>
        </p:spPr>
      </p:pic>
      <p:sp>
        <p:nvSpPr>
          <p:cNvPr id="2" name="Title 1"/>
          <p:cNvSpPr>
            <a:spLocks noGrp="1"/>
          </p:cNvSpPr>
          <p:nvPr>
            <p:ph type="ctrTitle"/>
          </p:nvPr>
        </p:nvSpPr>
        <p:spPr>
          <a:xfrm>
            <a:off x="1524000" y="1122362"/>
            <a:ext cx="9144000" cy="2900518"/>
          </a:xfrm>
        </p:spPr>
        <p:txBody>
          <a:bodyPr>
            <a:normAutofit/>
          </a:bodyPr>
          <a:lstStyle/>
          <a:p>
            <a:r>
              <a:rPr lang="en-US">
                <a:solidFill>
                  <a:srgbClr val="FFFFFF"/>
                </a:solidFill>
              </a:rPr>
              <a:t>High-Performance Arithmetic System</a:t>
            </a:r>
          </a:p>
        </p:txBody>
      </p:sp>
      <p:sp>
        <p:nvSpPr>
          <p:cNvPr id="3" name="Subtitle 2"/>
          <p:cNvSpPr>
            <a:spLocks noGrp="1"/>
          </p:cNvSpPr>
          <p:nvPr>
            <p:ph type="subTitle" idx="1"/>
          </p:nvPr>
        </p:nvSpPr>
        <p:spPr>
          <a:xfrm>
            <a:off x="1524000" y="4159404"/>
            <a:ext cx="9144000" cy="1098395"/>
          </a:xfrm>
        </p:spPr>
        <p:txBody>
          <a:bodyPr vert="horz" lIns="91440" tIns="45720" rIns="91440" bIns="45720" rtlCol="0">
            <a:normAutofit/>
          </a:bodyPr>
          <a:lstStyle/>
          <a:p>
            <a:r>
              <a:rPr lang="en-US">
                <a:solidFill>
                  <a:srgbClr val="FFFFFF"/>
                </a:solidFill>
              </a:rPr>
              <a:t>Project 2</a:t>
            </a:r>
          </a:p>
          <a:p>
            <a:r>
              <a:rPr lang="en-US">
                <a:solidFill>
                  <a:srgbClr val="FFFFFF"/>
                </a:solidFill>
              </a:rPr>
              <a:t>Madison Gage &amp; Benjamin Niccum</a:t>
            </a:r>
          </a:p>
        </p:txBody>
      </p:sp>
    </p:spTree>
    <p:extLst>
      <p:ext uri="{BB962C8B-B14F-4D97-AF65-F5344CB8AC3E}">
        <p14:creationId xmlns:p14="http://schemas.microsoft.com/office/powerpoint/2010/main" val="10985722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780D8F9-93EA-492B-08F4-6A24167BFA84}"/>
              </a:ext>
            </a:extLst>
          </p:cNvPr>
          <p:cNvPicPr>
            <a:picLocks noChangeAspect="1"/>
          </p:cNvPicPr>
          <p:nvPr/>
        </p:nvPicPr>
        <p:blipFill>
          <a:blip r:embed="rId2">
            <a:duotone>
              <a:schemeClr val="bg2">
                <a:shade val="45000"/>
                <a:satMod val="135000"/>
              </a:schemeClr>
              <a:prstClr val="white"/>
            </a:duotone>
          </a:blip>
          <a:srcRect t="12487" r="9085" b="10785"/>
          <a:stretch>
            <a:fillRect/>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CFB3108-C92F-F2B0-29CC-973A0269CD28}"/>
              </a:ext>
            </a:extLst>
          </p:cNvPr>
          <p:cNvSpPr>
            <a:spLocks noGrp="1"/>
          </p:cNvSpPr>
          <p:nvPr>
            <p:ph type="title"/>
          </p:nvPr>
        </p:nvSpPr>
        <p:spPr>
          <a:xfrm>
            <a:off x="838200" y="365125"/>
            <a:ext cx="10515600" cy="1325563"/>
          </a:xfrm>
        </p:spPr>
        <p:txBody>
          <a:bodyPr>
            <a:normAutofit/>
          </a:bodyPr>
          <a:lstStyle/>
          <a:p>
            <a:r>
              <a:rPr lang="en-US"/>
              <a:t>Introduction</a:t>
            </a:r>
          </a:p>
        </p:txBody>
      </p:sp>
      <p:graphicFrame>
        <p:nvGraphicFramePr>
          <p:cNvPr id="5" name="Content Placeholder 2">
            <a:extLst>
              <a:ext uri="{FF2B5EF4-FFF2-40B4-BE49-F238E27FC236}">
                <a16:creationId xmlns:a16="http://schemas.microsoft.com/office/drawing/2014/main" id="{357655F5-C551-019E-8E9D-03B56DD367F2}"/>
              </a:ext>
            </a:extLst>
          </p:cNvPr>
          <p:cNvGraphicFramePr>
            <a:graphicFrameLocks noGrp="1"/>
          </p:cNvGraphicFramePr>
          <p:nvPr>
            <p:ph idx="1"/>
            <p:extLst>
              <p:ext uri="{D42A27DB-BD31-4B8C-83A1-F6EECF244321}">
                <p14:modId xmlns:p14="http://schemas.microsoft.com/office/powerpoint/2010/main" val="2484667430"/>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756464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a:extLst>
            <a:ext uri="{FF2B5EF4-FFF2-40B4-BE49-F238E27FC236}">
              <a16:creationId xmlns:a16="http://schemas.microsoft.com/office/drawing/2014/main" id="{32A1E96B-233A-4D20-ABB3-0AAEE22CA580}"/>
            </a:ext>
          </a:extLst>
        </p:cNvPr>
        <p:cNvGrpSpPr/>
        <p:nvPr/>
      </p:nvGrpSpPr>
      <p:grpSpPr>
        <a:xfrm>
          <a:off x="0" y="0"/>
          <a:ext cx="0" cy="0"/>
          <a:chOff x="0" y="0"/>
          <a:chExt cx="0" cy="0"/>
        </a:xfrm>
      </p:grpSpPr>
      <p:sp useBgFill="1">
        <p:nvSpPr>
          <p:cNvPr id="21"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23" name="Rectangle 22">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67CEB56-9C0B-6627-80AA-F2B3425EA5A7}"/>
              </a:ext>
            </a:extLst>
          </p:cNvPr>
          <p:cNvSpPr>
            <a:spLocks noGrp="1"/>
          </p:cNvSpPr>
          <p:nvPr>
            <p:ph type="title"/>
          </p:nvPr>
        </p:nvSpPr>
        <p:spPr>
          <a:xfrm>
            <a:off x="761803" y="350196"/>
            <a:ext cx="4646904" cy="1624520"/>
          </a:xfrm>
        </p:spPr>
        <p:txBody>
          <a:bodyPr anchor="ctr">
            <a:normAutofit/>
          </a:bodyPr>
          <a:lstStyle/>
          <a:p>
            <a:r>
              <a:rPr lang="en-US" sz="4000"/>
              <a:t>Distributed Input Processing</a:t>
            </a:r>
          </a:p>
        </p:txBody>
      </p:sp>
      <p:sp>
        <p:nvSpPr>
          <p:cNvPr id="3" name="Content Placeholder 2">
            <a:extLst>
              <a:ext uri="{FF2B5EF4-FFF2-40B4-BE49-F238E27FC236}">
                <a16:creationId xmlns:a16="http://schemas.microsoft.com/office/drawing/2014/main" id="{D0F00123-A8BF-B8A0-88E7-A3CAC4153979}"/>
              </a:ext>
            </a:extLst>
          </p:cNvPr>
          <p:cNvSpPr>
            <a:spLocks noGrp="1"/>
          </p:cNvSpPr>
          <p:nvPr>
            <p:ph idx="1"/>
          </p:nvPr>
        </p:nvSpPr>
        <p:spPr>
          <a:xfrm>
            <a:off x="761802" y="2743200"/>
            <a:ext cx="4646905" cy="3613149"/>
          </a:xfrm>
        </p:spPr>
        <p:txBody>
          <a:bodyPr anchor="ctr">
            <a:normAutofit/>
          </a:bodyPr>
          <a:lstStyle/>
          <a:p>
            <a:r>
              <a:rPr lang="en-US" sz="2000"/>
              <a:t>The system shall accept computational requests through both interactive CLI and batch CSV processing, with input validation and request queuing across distributed nodes. </a:t>
            </a:r>
          </a:p>
          <a:p>
            <a:r>
              <a:rPr lang="en-US" sz="2000"/>
              <a:t>User Interface node handles this</a:t>
            </a:r>
          </a:p>
          <a:p>
            <a:pPr lvl="1"/>
            <a:r>
              <a:rPr lang="en-US" sz="2000"/>
              <a:t>Dual input modes</a:t>
            </a:r>
          </a:p>
          <a:p>
            <a:pPr lvl="1"/>
            <a:r>
              <a:rPr lang="en-US" sz="2000"/>
              <a:t>Input validation</a:t>
            </a:r>
          </a:p>
        </p:txBody>
      </p:sp>
      <p:pic>
        <p:nvPicPr>
          <p:cNvPr id="17" name="Picture 16" descr="A 3D pattern of ring shapes connected by lines">
            <a:extLst>
              <a:ext uri="{FF2B5EF4-FFF2-40B4-BE49-F238E27FC236}">
                <a16:creationId xmlns:a16="http://schemas.microsoft.com/office/drawing/2014/main" id="{1ECD40AD-EDE6-9071-3BD6-FBC62C6AD62B}"/>
              </a:ext>
            </a:extLst>
          </p:cNvPr>
          <p:cNvPicPr>
            <a:picLocks noChangeAspect="1"/>
          </p:cNvPicPr>
          <p:nvPr/>
        </p:nvPicPr>
        <p:blipFill>
          <a:blip r:embed="rId2"/>
          <a:srcRect l="7556" r="42387" b="-2"/>
          <a:stretch>
            <a:fillRect/>
          </a:stretch>
        </p:blipFill>
        <p:spPr>
          <a:xfrm>
            <a:off x="6096000" y="1"/>
            <a:ext cx="6102825" cy="6858000"/>
          </a:xfrm>
          <a:prstGeom prst="rect">
            <a:avLst/>
          </a:prstGeom>
        </p:spPr>
      </p:pic>
    </p:spTree>
    <p:extLst>
      <p:ext uri="{BB962C8B-B14F-4D97-AF65-F5344CB8AC3E}">
        <p14:creationId xmlns:p14="http://schemas.microsoft.com/office/powerpoint/2010/main" val="25239326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a:extLst>
            <a:ext uri="{FF2B5EF4-FFF2-40B4-BE49-F238E27FC236}">
              <a16:creationId xmlns:a16="http://schemas.microsoft.com/office/drawing/2014/main" id="{E8D562E6-5A87-64CE-FF5F-5C8E00F4CBF8}"/>
            </a:ext>
          </a:extLst>
        </p:cNvPr>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993726B-956C-4ED3-8160-BC25ECC781EB}"/>
              </a:ext>
            </a:extLst>
          </p:cNvPr>
          <p:cNvSpPr>
            <a:spLocks noGrp="1"/>
          </p:cNvSpPr>
          <p:nvPr>
            <p:ph type="title"/>
          </p:nvPr>
        </p:nvSpPr>
        <p:spPr>
          <a:xfrm>
            <a:off x="761800" y="762001"/>
            <a:ext cx="5334197" cy="1708242"/>
          </a:xfrm>
        </p:spPr>
        <p:txBody>
          <a:bodyPr anchor="ctr">
            <a:normAutofit/>
          </a:bodyPr>
          <a:lstStyle/>
          <a:p>
            <a:r>
              <a:rPr lang="en-US" sz="4000"/>
              <a:t>Parallel Arithmetic Operations</a:t>
            </a:r>
          </a:p>
        </p:txBody>
      </p:sp>
      <p:sp>
        <p:nvSpPr>
          <p:cNvPr id="3" name="Content Placeholder 2">
            <a:extLst>
              <a:ext uri="{FF2B5EF4-FFF2-40B4-BE49-F238E27FC236}">
                <a16:creationId xmlns:a16="http://schemas.microsoft.com/office/drawing/2014/main" id="{5F7ABEFC-6761-FAEA-DBE7-371C6BF09F1B}"/>
              </a:ext>
            </a:extLst>
          </p:cNvPr>
          <p:cNvSpPr>
            <a:spLocks noGrp="1"/>
          </p:cNvSpPr>
          <p:nvPr>
            <p:ph idx="1"/>
          </p:nvPr>
        </p:nvSpPr>
        <p:spPr>
          <a:xfrm>
            <a:off x="761800" y="2470244"/>
            <a:ext cx="5334197" cy="3769835"/>
          </a:xfrm>
        </p:spPr>
        <p:txBody>
          <a:bodyPr anchor="ctr">
            <a:normAutofit/>
          </a:bodyPr>
          <a:lstStyle/>
          <a:p>
            <a:r>
              <a:rPr lang="en-US" sz="2000"/>
              <a:t>The system shall process addition, subtraction, multiplication, and division operations concurrently across specialized computation nodes with load balancing. </a:t>
            </a:r>
          </a:p>
          <a:p>
            <a:r>
              <a:rPr lang="en-US" sz="2000"/>
              <a:t>Four dedicated computation nodes </a:t>
            </a:r>
          </a:p>
          <a:p>
            <a:r>
              <a:rPr lang="en-US" sz="2000"/>
              <a:t>UI node implements intelligent routing </a:t>
            </a:r>
          </a:p>
          <a:p>
            <a:r>
              <a:rPr lang="en-US" sz="2000"/>
              <a:t>Each computation node processes only its assigned operation type </a:t>
            </a:r>
          </a:p>
          <a:p>
            <a:endParaRPr lang="en-US" sz="2000"/>
          </a:p>
          <a:p>
            <a:endParaRPr lang="en-US" sz="2000"/>
          </a:p>
        </p:txBody>
      </p:sp>
      <p:pic>
        <p:nvPicPr>
          <p:cNvPr id="5" name="Picture 4" descr="Top view of cubes connected with black lines">
            <a:extLst>
              <a:ext uri="{FF2B5EF4-FFF2-40B4-BE49-F238E27FC236}">
                <a16:creationId xmlns:a16="http://schemas.microsoft.com/office/drawing/2014/main" id="{ED4D6409-11E8-7BD9-6714-9C758ED99CE0}"/>
              </a:ext>
            </a:extLst>
          </p:cNvPr>
          <p:cNvPicPr>
            <a:picLocks noChangeAspect="1"/>
          </p:cNvPicPr>
          <p:nvPr/>
        </p:nvPicPr>
        <p:blipFill>
          <a:blip r:embed="rId2"/>
          <a:srcRect l="26032" r="15726" b="2"/>
          <a:stretch>
            <a:fillRect/>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28910296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a:extLst>
            <a:ext uri="{FF2B5EF4-FFF2-40B4-BE49-F238E27FC236}">
              <a16:creationId xmlns:a16="http://schemas.microsoft.com/office/drawing/2014/main" id="{C88020DC-1B4C-92EF-85A5-9B1DB88CEF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201D3E-AB32-50A0-5642-606152E2E6D4}"/>
              </a:ext>
            </a:extLst>
          </p:cNvPr>
          <p:cNvSpPr>
            <a:spLocks noGrp="1"/>
          </p:cNvSpPr>
          <p:nvPr>
            <p:ph type="title"/>
          </p:nvPr>
        </p:nvSpPr>
        <p:spPr/>
        <p:txBody>
          <a:bodyPr>
            <a:normAutofit/>
          </a:bodyPr>
          <a:lstStyle/>
          <a:p>
            <a:pPr lvl="1"/>
            <a:r>
              <a:rPr lang="en-US" sz="4400">
                <a:latin typeface="+mj-lt"/>
              </a:rPr>
              <a:t>Fault-Tolerant Communication</a:t>
            </a:r>
          </a:p>
        </p:txBody>
      </p:sp>
      <p:sp>
        <p:nvSpPr>
          <p:cNvPr id="3" name="Content Placeholder 2">
            <a:extLst>
              <a:ext uri="{FF2B5EF4-FFF2-40B4-BE49-F238E27FC236}">
                <a16:creationId xmlns:a16="http://schemas.microsoft.com/office/drawing/2014/main" id="{7BEC5944-3732-728C-FFA4-AE001371C1AE}"/>
              </a:ext>
            </a:extLst>
          </p:cNvPr>
          <p:cNvSpPr>
            <a:spLocks noGrp="1"/>
          </p:cNvSpPr>
          <p:nvPr>
            <p:ph idx="1"/>
          </p:nvPr>
        </p:nvSpPr>
        <p:spPr/>
        <p:txBody>
          <a:bodyPr/>
          <a:lstStyle/>
          <a:p>
            <a:r>
              <a:rPr lang="en-US"/>
              <a:t>The system shall implement reliable message passing between nodes using MPI with error detection and graceful handling of node failures. </a:t>
            </a:r>
          </a:p>
          <a:p>
            <a:r>
              <a:rPr lang="en-US"/>
              <a:t>MPI message passing structured communication protocols using defined message tags </a:t>
            </a:r>
          </a:p>
          <a:p>
            <a:r>
              <a:rPr lang="en-US"/>
              <a:t>error status tracking  </a:t>
            </a:r>
          </a:p>
          <a:p>
            <a:r>
              <a:rPr lang="en-US"/>
              <a:t>termination synchronization </a:t>
            </a:r>
          </a:p>
          <a:p>
            <a:endParaRPr lang="en-US"/>
          </a:p>
          <a:p>
            <a:endParaRPr lang="en-US"/>
          </a:p>
        </p:txBody>
      </p:sp>
      <p:pic>
        <p:nvPicPr>
          <p:cNvPr id="5" name="Picture 4">
            <a:extLst>
              <a:ext uri="{FF2B5EF4-FFF2-40B4-BE49-F238E27FC236}">
                <a16:creationId xmlns:a16="http://schemas.microsoft.com/office/drawing/2014/main" id="{122D0E2C-3930-5AA9-34CD-8424775B1B08}"/>
              </a:ext>
            </a:extLst>
          </p:cNvPr>
          <p:cNvPicPr>
            <a:picLocks noChangeAspect="1"/>
          </p:cNvPicPr>
          <p:nvPr/>
        </p:nvPicPr>
        <p:blipFill>
          <a:blip r:embed="rId2"/>
          <a:stretch>
            <a:fillRect/>
          </a:stretch>
        </p:blipFill>
        <p:spPr>
          <a:xfrm>
            <a:off x="2749550" y="5878513"/>
            <a:ext cx="6692900" cy="596900"/>
          </a:xfrm>
          <a:prstGeom prst="rect">
            <a:avLst/>
          </a:prstGeom>
        </p:spPr>
      </p:pic>
      <p:pic>
        <p:nvPicPr>
          <p:cNvPr id="6" name="Picture 5">
            <a:extLst>
              <a:ext uri="{FF2B5EF4-FFF2-40B4-BE49-F238E27FC236}">
                <a16:creationId xmlns:a16="http://schemas.microsoft.com/office/drawing/2014/main" id="{53C3B958-040A-DFA3-41E8-512AABBA0EEF}"/>
              </a:ext>
            </a:extLst>
          </p:cNvPr>
          <p:cNvPicPr>
            <a:picLocks noChangeAspect="1"/>
          </p:cNvPicPr>
          <p:nvPr/>
        </p:nvPicPr>
        <p:blipFill>
          <a:blip r:embed="rId3"/>
          <a:stretch>
            <a:fillRect/>
          </a:stretch>
        </p:blipFill>
        <p:spPr>
          <a:xfrm>
            <a:off x="2209800" y="5131576"/>
            <a:ext cx="7772400" cy="612000"/>
          </a:xfrm>
          <a:prstGeom prst="rect">
            <a:avLst/>
          </a:prstGeom>
        </p:spPr>
      </p:pic>
      <p:pic>
        <p:nvPicPr>
          <p:cNvPr id="7" name="Picture 6">
            <a:extLst>
              <a:ext uri="{FF2B5EF4-FFF2-40B4-BE49-F238E27FC236}">
                <a16:creationId xmlns:a16="http://schemas.microsoft.com/office/drawing/2014/main" id="{E1D3FD24-FD94-E86D-C3BA-328E047D50D2}"/>
              </a:ext>
            </a:extLst>
          </p:cNvPr>
          <p:cNvPicPr>
            <a:picLocks noChangeAspect="1"/>
          </p:cNvPicPr>
          <p:nvPr/>
        </p:nvPicPr>
        <p:blipFill>
          <a:blip r:embed="rId4"/>
          <a:stretch>
            <a:fillRect/>
          </a:stretch>
        </p:blipFill>
        <p:spPr>
          <a:xfrm>
            <a:off x="6096000" y="3705661"/>
            <a:ext cx="2717800" cy="1168400"/>
          </a:xfrm>
          <a:prstGeom prst="rect">
            <a:avLst/>
          </a:prstGeom>
        </p:spPr>
      </p:pic>
      <p:sp>
        <p:nvSpPr>
          <p:cNvPr id="8" name="TextBox 7">
            <a:extLst>
              <a:ext uri="{FF2B5EF4-FFF2-40B4-BE49-F238E27FC236}">
                <a16:creationId xmlns:a16="http://schemas.microsoft.com/office/drawing/2014/main" id="{00B8E632-33CE-05B4-9B21-C1639A5B9BDD}"/>
              </a:ext>
            </a:extLst>
          </p:cNvPr>
          <p:cNvSpPr txBox="1"/>
          <p:nvPr/>
        </p:nvSpPr>
        <p:spPr>
          <a:xfrm>
            <a:off x="9442450" y="5992297"/>
            <a:ext cx="1647887" cy="369332"/>
          </a:xfrm>
          <a:prstGeom prst="rect">
            <a:avLst/>
          </a:prstGeom>
          <a:noFill/>
        </p:spPr>
        <p:txBody>
          <a:bodyPr wrap="none" rtlCol="0">
            <a:spAutoFit/>
          </a:bodyPr>
          <a:lstStyle/>
          <a:p>
            <a:r>
              <a:rPr lang="en-US" err="1"/>
              <a:t>computation.c</a:t>
            </a:r>
            <a:endParaRPr lang="en-US"/>
          </a:p>
        </p:txBody>
      </p:sp>
      <p:sp>
        <p:nvSpPr>
          <p:cNvPr id="9" name="TextBox 8">
            <a:extLst>
              <a:ext uri="{FF2B5EF4-FFF2-40B4-BE49-F238E27FC236}">
                <a16:creationId xmlns:a16="http://schemas.microsoft.com/office/drawing/2014/main" id="{3B68C278-6E24-8141-2A2E-353FA34BD47A}"/>
              </a:ext>
            </a:extLst>
          </p:cNvPr>
          <p:cNvSpPr txBox="1"/>
          <p:nvPr/>
        </p:nvSpPr>
        <p:spPr>
          <a:xfrm>
            <a:off x="9982200" y="5241189"/>
            <a:ext cx="1061509" cy="369332"/>
          </a:xfrm>
          <a:prstGeom prst="rect">
            <a:avLst/>
          </a:prstGeom>
          <a:noFill/>
        </p:spPr>
        <p:txBody>
          <a:bodyPr wrap="none" rtlCol="0">
            <a:spAutoFit/>
          </a:bodyPr>
          <a:lstStyle/>
          <a:p>
            <a:r>
              <a:rPr lang="en-US" err="1"/>
              <a:t>display.c</a:t>
            </a:r>
            <a:endParaRPr lang="en-US"/>
          </a:p>
        </p:txBody>
      </p:sp>
    </p:spTree>
    <p:extLst>
      <p:ext uri="{BB962C8B-B14F-4D97-AF65-F5344CB8AC3E}">
        <p14:creationId xmlns:p14="http://schemas.microsoft.com/office/powerpoint/2010/main" val="21229397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a:extLst>
            <a:ext uri="{FF2B5EF4-FFF2-40B4-BE49-F238E27FC236}">
              <a16:creationId xmlns:a16="http://schemas.microsoft.com/office/drawing/2014/main" id="{591189B6-3C1B-9D3C-1D04-99168C8651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36B304-EAC4-16E7-4CA6-125C43BD068E}"/>
              </a:ext>
            </a:extLst>
          </p:cNvPr>
          <p:cNvSpPr>
            <a:spLocks noGrp="1"/>
          </p:cNvSpPr>
          <p:nvPr>
            <p:ph type="title"/>
          </p:nvPr>
        </p:nvSpPr>
        <p:spPr/>
        <p:txBody>
          <a:bodyPr>
            <a:normAutofit/>
          </a:bodyPr>
          <a:lstStyle/>
          <a:p>
            <a:pPr lvl="1"/>
            <a:r>
              <a:rPr lang="en-US" sz="4400"/>
              <a:t>Synchronous Result Aggregation</a:t>
            </a:r>
          </a:p>
        </p:txBody>
      </p:sp>
      <p:graphicFrame>
        <p:nvGraphicFramePr>
          <p:cNvPr id="5" name="Content Placeholder 2">
            <a:extLst>
              <a:ext uri="{FF2B5EF4-FFF2-40B4-BE49-F238E27FC236}">
                <a16:creationId xmlns:a16="http://schemas.microsoft.com/office/drawing/2014/main" id="{8C6D2D35-6215-7BA3-B258-33743D7DF8EE}"/>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257515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a:extLst>
            <a:ext uri="{FF2B5EF4-FFF2-40B4-BE49-F238E27FC236}">
              <a16:creationId xmlns:a16="http://schemas.microsoft.com/office/drawing/2014/main" id="{FE283E15-7FFB-648A-C3BE-43D9D31D6F8D}"/>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66F1A17-1EFD-DB50-38BE-ED4EA81DA632}"/>
              </a:ext>
            </a:extLst>
          </p:cNvPr>
          <p:cNvSpPr>
            <a:spLocks noGrp="1"/>
          </p:cNvSpPr>
          <p:nvPr>
            <p:ph type="title"/>
          </p:nvPr>
        </p:nvSpPr>
        <p:spPr>
          <a:xfrm>
            <a:off x="1137034" y="609597"/>
            <a:ext cx="9392421" cy="1330841"/>
          </a:xfrm>
        </p:spPr>
        <p:txBody>
          <a:bodyPr>
            <a:normAutofit/>
          </a:bodyPr>
          <a:lstStyle/>
          <a:p>
            <a:pPr lvl="1"/>
            <a:r>
              <a:rPr lang="en-US"/>
              <a:t>Performance Monitoring and Analytics</a:t>
            </a:r>
          </a:p>
        </p:txBody>
      </p:sp>
      <p:sp>
        <p:nvSpPr>
          <p:cNvPr id="3" name="Content Placeholder 2">
            <a:extLst>
              <a:ext uri="{FF2B5EF4-FFF2-40B4-BE49-F238E27FC236}">
                <a16:creationId xmlns:a16="http://schemas.microsoft.com/office/drawing/2014/main" id="{C5494138-0A50-1705-ECFD-704AEE084048}"/>
              </a:ext>
            </a:extLst>
          </p:cNvPr>
          <p:cNvSpPr>
            <a:spLocks noGrp="1"/>
          </p:cNvSpPr>
          <p:nvPr>
            <p:ph idx="1"/>
          </p:nvPr>
        </p:nvSpPr>
        <p:spPr>
          <a:xfrm>
            <a:off x="1137034" y="2198362"/>
            <a:ext cx="4958966" cy="3917773"/>
          </a:xfrm>
        </p:spPr>
        <p:txBody>
          <a:bodyPr>
            <a:normAutofit/>
          </a:bodyPr>
          <a:lstStyle/>
          <a:p>
            <a:r>
              <a:rPr lang="en-US" sz="2000"/>
              <a:t>The system shall collect timing metrics, throughput statistics, and system performance data across all distributed components in real-time. </a:t>
            </a:r>
          </a:p>
          <a:p>
            <a:r>
              <a:rPr lang="en-US" sz="2000"/>
              <a:t>Each computation node records execution timing </a:t>
            </a:r>
          </a:p>
          <a:p>
            <a:r>
              <a:rPr lang="en-US" sz="2000"/>
              <a:t>Statistical analytics </a:t>
            </a:r>
          </a:p>
          <a:p>
            <a:r>
              <a:rPr lang="en-US" sz="2000"/>
              <a:t>Results are stored </a:t>
            </a:r>
          </a:p>
          <a:p>
            <a:endParaRPr lang="en-US" sz="2000"/>
          </a:p>
        </p:txBody>
      </p:sp>
      <p:pic>
        <p:nvPicPr>
          <p:cNvPr id="7" name="Picture 6">
            <a:extLst>
              <a:ext uri="{FF2B5EF4-FFF2-40B4-BE49-F238E27FC236}">
                <a16:creationId xmlns:a16="http://schemas.microsoft.com/office/drawing/2014/main" id="{CCBD69F3-B6E1-4802-36C6-A5643962FAA9}"/>
              </a:ext>
            </a:extLst>
          </p:cNvPr>
          <p:cNvPicPr>
            <a:picLocks noChangeAspect="1"/>
          </p:cNvPicPr>
          <p:nvPr/>
        </p:nvPicPr>
        <p:blipFill>
          <a:blip r:embed="rId2"/>
          <a:stretch>
            <a:fillRect/>
          </a:stretch>
        </p:blipFill>
        <p:spPr>
          <a:xfrm>
            <a:off x="6719367" y="3176999"/>
            <a:ext cx="4788505" cy="1771745"/>
          </a:xfrm>
          <a:prstGeom prst="rect">
            <a:avLst/>
          </a:prstGeom>
        </p:spPr>
      </p:pic>
      <p:sp>
        <p:nvSpPr>
          <p:cNvPr id="16" name="Freeform: Shape 15">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1683477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a:extLst>
            <a:ext uri="{FF2B5EF4-FFF2-40B4-BE49-F238E27FC236}">
              <a16:creationId xmlns:a16="http://schemas.microsoft.com/office/drawing/2014/main" id="{5F76A65D-A133-EA5E-0C65-DF7BA620D680}"/>
            </a:ext>
          </a:extLst>
        </p:cNvPr>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96B11EF-FD74-6CBC-98D9-425BC3E0ECA5}"/>
              </a:ext>
            </a:extLst>
          </p:cNvPr>
          <p:cNvSpPr>
            <a:spLocks noGrp="1"/>
          </p:cNvSpPr>
          <p:nvPr>
            <p:ph type="title"/>
          </p:nvPr>
        </p:nvSpPr>
        <p:spPr>
          <a:xfrm>
            <a:off x="761800" y="762001"/>
            <a:ext cx="5334197" cy="1708242"/>
          </a:xfrm>
        </p:spPr>
        <p:txBody>
          <a:bodyPr anchor="ctr">
            <a:normAutofit/>
          </a:bodyPr>
          <a:lstStyle/>
          <a:p>
            <a:pPr lvl="1"/>
            <a:r>
              <a:rPr lang="en-US" sz="4000"/>
              <a:t>Scalable Container Orchestration</a:t>
            </a:r>
          </a:p>
        </p:txBody>
      </p:sp>
      <p:sp>
        <p:nvSpPr>
          <p:cNvPr id="3" name="Content Placeholder 2">
            <a:extLst>
              <a:ext uri="{FF2B5EF4-FFF2-40B4-BE49-F238E27FC236}">
                <a16:creationId xmlns:a16="http://schemas.microsoft.com/office/drawing/2014/main" id="{DE38B3BD-0543-49AA-1C2D-9601703A9D45}"/>
              </a:ext>
            </a:extLst>
          </p:cNvPr>
          <p:cNvSpPr>
            <a:spLocks noGrp="1"/>
          </p:cNvSpPr>
          <p:nvPr>
            <p:ph idx="1"/>
          </p:nvPr>
        </p:nvSpPr>
        <p:spPr>
          <a:xfrm>
            <a:off x="761800" y="2470244"/>
            <a:ext cx="5334197" cy="3769835"/>
          </a:xfrm>
        </p:spPr>
        <p:txBody>
          <a:bodyPr anchor="ctr">
            <a:normAutofit/>
          </a:bodyPr>
          <a:lstStyle/>
          <a:p>
            <a:r>
              <a:rPr lang="en-US" sz="2000"/>
              <a:t>The system shall support dynamic scaling and orchestration of containerized nodes with automated deployment and termination coordination. </a:t>
            </a:r>
          </a:p>
          <a:p>
            <a:r>
              <a:rPr lang="en-US" sz="2000"/>
              <a:t>Each node runs in its own container with defined inter-container communication via MPI </a:t>
            </a:r>
          </a:p>
          <a:p>
            <a:r>
              <a:rPr lang="en-US" sz="2000"/>
              <a:t>Automated deployment</a:t>
            </a:r>
          </a:p>
        </p:txBody>
      </p:sp>
      <p:pic>
        <p:nvPicPr>
          <p:cNvPr id="5" name="Picture 4" descr="Forklift lifting a container in the yard">
            <a:extLst>
              <a:ext uri="{FF2B5EF4-FFF2-40B4-BE49-F238E27FC236}">
                <a16:creationId xmlns:a16="http://schemas.microsoft.com/office/drawing/2014/main" id="{671DF6A8-276A-C967-59E4-166C6E6D1D70}"/>
              </a:ext>
            </a:extLst>
          </p:cNvPr>
          <p:cNvPicPr>
            <a:picLocks noChangeAspect="1"/>
          </p:cNvPicPr>
          <p:nvPr/>
        </p:nvPicPr>
        <p:blipFill>
          <a:blip r:embed="rId2"/>
          <a:srcRect l="14860" r="33380" b="-3"/>
          <a:stretch>
            <a:fillRect/>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10270327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23ADA37-B0ED-76D5-102B-2EDB9421D4F8}"/>
              </a:ext>
            </a:extLst>
          </p:cNvPr>
          <p:cNvSpPr>
            <a:spLocks noGrp="1"/>
          </p:cNvSpPr>
          <p:nvPr>
            <p:ph type="title"/>
          </p:nvPr>
        </p:nvSpPr>
        <p:spPr>
          <a:xfrm>
            <a:off x="630936" y="639520"/>
            <a:ext cx="3429000" cy="1719072"/>
          </a:xfrm>
        </p:spPr>
        <p:txBody>
          <a:bodyPr anchor="b">
            <a:normAutofit/>
          </a:bodyPr>
          <a:lstStyle/>
          <a:p>
            <a:r>
              <a:rPr lang="en-US" sz="5000"/>
              <a:t>Architecture</a:t>
            </a:r>
          </a:p>
        </p:txBody>
      </p:sp>
      <p:sp>
        <p:nvSpPr>
          <p:cNvPr id="26"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Content Placeholder 7">
            <a:extLst>
              <a:ext uri="{FF2B5EF4-FFF2-40B4-BE49-F238E27FC236}">
                <a16:creationId xmlns:a16="http://schemas.microsoft.com/office/drawing/2014/main" id="{DB03E590-567F-F000-17BC-5434A858307D}"/>
              </a:ext>
            </a:extLst>
          </p:cNvPr>
          <p:cNvSpPr>
            <a:spLocks noGrp="1"/>
          </p:cNvSpPr>
          <p:nvPr>
            <p:ph idx="1"/>
          </p:nvPr>
        </p:nvSpPr>
        <p:spPr>
          <a:xfrm>
            <a:off x="630936" y="2807208"/>
            <a:ext cx="3429000" cy="3410712"/>
          </a:xfrm>
        </p:spPr>
        <p:txBody>
          <a:bodyPr anchor="t">
            <a:normAutofit/>
          </a:bodyPr>
          <a:lstStyle/>
          <a:p>
            <a:r>
              <a:rPr lang="en-US" sz="2000"/>
              <a:t>We chose a layered architecture to demonstrate how  the user interface sends messages to each of the other layers, computation nodes send messages to the Display Node, and the display node sends termination signal messages to the computation nodes. </a:t>
            </a:r>
          </a:p>
        </p:txBody>
      </p:sp>
      <p:pic>
        <p:nvPicPr>
          <p:cNvPr id="4" name="Content Placeholder 3" descr="A screenshot of a computer&#10;&#10;AI-generated content may be incorrect.">
            <a:extLst>
              <a:ext uri="{FF2B5EF4-FFF2-40B4-BE49-F238E27FC236}">
                <a16:creationId xmlns:a16="http://schemas.microsoft.com/office/drawing/2014/main" id="{393BB3E0-5B55-1450-F5D3-D2859285D2E2}"/>
              </a:ext>
            </a:extLst>
          </p:cNvPr>
          <p:cNvPicPr>
            <a:picLocks noChangeAspect="1"/>
          </p:cNvPicPr>
          <p:nvPr/>
        </p:nvPicPr>
        <p:blipFill>
          <a:blip r:embed="rId2"/>
          <a:stretch>
            <a:fillRect/>
          </a:stretch>
        </p:blipFill>
        <p:spPr>
          <a:xfrm>
            <a:off x="4057691" y="1024418"/>
            <a:ext cx="8020138" cy="5092698"/>
          </a:xfrm>
          <a:prstGeom prst="rect">
            <a:avLst/>
          </a:prstGeom>
        </p:spPr>
      </p:pic>
    </p:spTree>
    <p:extLst>
      <p:ext uri="{BB962C8B-B14F-4D97-AF65-F5344CB8AC3E}">
        <p14:creationId xmlns:p14="http://schemas.microsoft.com/office/powerpoint/2010/main" val="3609958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shot of a computer program&#10;&#10;AI-generated content may be incorrect.">
            <a:extLst>
              <a:ext uri="{FF2B5EF4-FFF2-40B4-BE49-F238E27FC236}">
                <a16:creationId xmlns:a16="http://schemas.microsoft.com/office/drawing/2014/main" id="{C143BA0D-E5C2-1E2A-40B3-E8A25437DBAD}"/>
              </a:ext>
            </a:extLst>
          </p:cNvPr>
          <p:cNvPicPr>
            <a:picLocks noGrp="1" noChangeAspect="1"/>
          </p:cNvPicPr>
          <p:nvPr>
            <p:ph idx="1"/>
          </p:nvPr>
        </p:nvPicPr>
        <p:blipFill>
          <a:blip r:embed="rId2"/>
          <a:srcRect l="1667" r="3648" b="-1"/>
          <a:stretch>
            <a:fillRect/>
          </a:stretch>
        </p:blipFill>
        <p:spPr>
          <a:xfrm>
            <a:off x="811826" y="457200"/>
            <a:ext cx="10568347" cy="5943600"/>
          </a:xfrm>
          <a:prstGeom prst="rect">
            <a:avLst/>
          </a:prstGeom>
        </p:spPr>
      </p:pic>
    </p:spTree>
    <p:extLst>
      <p:ext uri="{BB962C8B-B14F-4D97-AF65-F5344CB8AC3E}">
        <p14:creationId xmlns:p14="http://schemas.microsoft.com/office/powerpoint/2010/main" val="12186029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6588F-BE24-183B-3F28-CDCB423325C2}"/>
              </a:ext>
            </a:extLst>
          </p:cNvPr>
          <p:cNvSpPr>
            <a:spLocks noGrp="1"/>
          </p:cNvSpPr>
          <p:nvPr>
            <p:ph type="title"/>
          </p:nvPr>
        </p:nvSpPr>
        <p:spPr>
          <a:xfrm>
            <a:off x="876693" y="741391"/>
            <a:ext cx="3449122" cy="1616203"/>
          </a:xfrm>
        </p:spPr>
        <p:txBody>
          <a:bodyPr vert="horz" lIns="91440" tIns="45720" rIns="91440" bIns="45720" rtlCol="0" anchor="b">
            <a:normAutofit/>
          </a:bodyPr>
          <a:lstStyle/>
          <a:p>
            <a:r>
              <a:rPr lang="en-US" sz="3200"/>
              <a:t>Computation Nodes</a:t>
            </a:r>
          </a:p>
        </p:txBody>
      </p:sp>
      <p:sp>
        <p:nvSpPr>
          <p:cNvPr id="103" name="Content Placeholder 102">
            <a:extLst>
              <a:ext uri="{FF2B5EF4-FFF2-40B4-BE49-F238E27FC236}">
                <a16:creationId xmlns:a16="http://schemas.microsoft.com/office/drawing/2014/main" id="{B78CB2C6-8EB2-EF9A-6CDA-2134C87CB2D4}"/>
              </a:ext>
            </a:extLst>
          </p:cNvPr>
          <p:cNvSpPr>
            <a:spLocks noGrp="1"/>
          </p:cNvSpPr>
          <p:nvPr>
            <p:ph idx="1"/>
          </p:nvPr>
        </p:nvSpPr>
        <p:spPr>
          <a:xfrm>
            <a:off x="876693" y="2533476"/>
            <a:ext cx="3449122" cy="3447832"/>
          </a:xfrm>
        </p:spPr>
        <p:txBody>
          <a:bodyPr anchor="t">
            <a:normAutofit/>
          </a:bodyPr>
          <a:lstStyle/>
          <a:p>
            <a:r>
              <a:rPr lang="en-US" sz="2000"/>
              <a:t>Identical code in each Computation node</a:t>
            </a:r>
          </a:p>
          <a:p>
            <a:r>
              <a:rPr lang="en-US" sz="2000"/>
              <a:t>Every function is included regardless of need</a:t>
            </a:r>
          </a:p>
          <a:p>
            <a:r>
              <a:rPr lang="en-US" sz="2000"/>
              <a:t>Can be built for redundancy</a:t>
            </a:r>
          </a:p>
          <a:p>
            <a:r>
              <a:rPr lang="en-US" sz="2000"/>
              <a:t>Workload is determined by user interface sorting</a:t>
            </a:r>
          </a:p>
        </p:txBody>
      </p:sp>
      <p:pic>
        <p:nvPicPr>
          <p:cNvPr id="5" name="Picture 4" descr="A screenshot of a computer code&#10;&#10;AI-generated content may be incorrect.">
            <a:extLst>
              <a:ext uri="{FF2B5EF4-FFF2-40B4-BE49-F238E27FC236}">
                <a16:creationId xmlns:a16="http://schemas.microsoft.com/office/drawing/2014/main" id="{3BA57F88-A2C9-851E-8AB5-ACF6E54B523E}"/>
              </a:ext>
            </a:extLst>
          </p:cNvPr>
          <p:cNvPicPr>
            <a:picLocks noChangeAspect="1"/>
          </p:cNvPicPr>
          <p:nvPr/>
        </p:nvPicPr>
        <p:blipFill>
          <a:blip r:embed="rId2"/>
          <a:srcRect t="6996"/>
          <a:stretch>
            <a:fillRect/>
          </a:stretch>
        </p:blipFill>
        <p:spPr>
          <a:xfrm>
            <a:off x="5065566" y="10"/>
            <a:ext cx="7032825" cy="5101829"/>
          </a:xfrm>
          <a:prstGeom prst="rect">
            <a:avLst/>
          </a:prstGeom>
        </p:spPr>
      </p:pic>
      <p:sp>
        <p:nvSpPr>
          <p:cNvPr id="106" name="Rectangle 105">
            <a:extLst>
              <a:ext uri="{FF2B5EF4-FFF2-40B4-BE49-F238E27FC236}">
                <a16:creationId xmlns:a16="http://schemas.microsoft.com/office/drawing/2014/main" id="{4DD35268-6FBE-0BCD-C050-3F804C7C54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2068597" y="0"/>
            <a:ext cx="123401" cy="3290157"/>
          </a:xfrm>
          <a:prstGeom prst="rect">
            <a:avLst/>
          </a:prstGeom>
          <a:gradFill>
            <a:gsLst>
              <a:gs pos="20000">
                <a:schemeClr val="accent3">
                  <a:alpha val="0"/>
                </a:schemeClr>
              </a:gs>
              <a:gs pos="100000">
                <a:schemeClr val="accent3">
                  <a:lumMod val="60000"/>
                  <a:lumOff val="40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Content Placeholder 2" descr="A screenshot of a computer&#10;&#10;AI-generated content may be incorrect.">
            <a:extLst>
              <a:ext uri="{FF2B5EF4-FFF2-40B4-BE49-F238E27FC236}">
                <a16:creationId xmlns:a16="http://schemas.microsoft.com/office/drawing/2014/main" id="{3DDBF776-1B77-656C-40FD-7FEFAE1A2085}"/>
              </a:ext>
            </a:extLst>
          </p:cNvPr>
          <p:cNvPicPr>
            <a:picLocks noChangeAspect="1"/>
          </p:cNvPicPr>
          <p:nvPr/>
        </p:nvPicPr>
        <p:blipFill>
          <a:blip r:embed="rId3"/>
          <a:srcRect t="1792" r="-4" b="-4"/>
          <a:stretch>
            <a:fillRect/>
          </a:stretch>
        </p:blipFill>
        <p:spPr>
          <a:xfrm>
            <a:off x="5065566" y="5101838"/>
            <a:ext cx="2352899" cy="1756162"/>
          </a:xfrm>
          <a:prstGeom prst="rect">
            <a:avLst/>
          </a:prstGeom>
        </p:spPr>
      </p:pic>
      <p:pic>
        <p:nvPicPr>
          <p:cNvPr id="7" name="Picture 6" descr="A computer screen with text&#10;&#10;AI-generated content may be incorrect.">
            <a:extLst>
              <a:ext uri="{FF2B5EF4-FFF2-40B4-BE49-F238E27FC236}">
                <a16:creationId xmlns:a16="http://schemas.microsoft.com/office/drawing/2014/main" id="{58A8587C-CCA2-7D86-EFB2-4E89AC923875}"/>
              </a:ext>
            </a:extLst>
          </p:cNvPr>
          <p:cNvPicPr>
            <a:picLocks noChangeAspect="1"/>
          </p:cNvPicPr>
          <p:nvPr/>
        </p:nvPicPr>
        <p:blipFill>
          <a:blip r:embed="rId4"/>
          <a:srcRect t="5819" r="-4" b="-4"/>
          <a:stretch>
            <a:fillRect/>
          </a:stretch>
        </p:blipFill>
        <p:spPr>
          <a:xfrm>
            <a:off x="7409472" y="5101838"/>
            <a:ext cx="2352899" cy="1756162"/>
          </a:xfrm>
          <a:prstGeom prst="rect">
            <a:avLst/>
          </a:prstGeom>
        </p:spPr>
      </p:pic>
      <p:pic>
        <p:nvPicPr>
          <p:cNvPr id="6" name="Picture 5" descr="A screenshot of a computer code&#10;&#10;AI-generated content may be incorrect.">
            <a:extLst>
              <a:ext uri="{FF2B5EF4-FFF2-40B4-BE49-F238E27FC236}">
                <a16:creationId xmlns:a16="http://schemas.microsoft.com/office/drawing/2014/main" id="{AC98779A-A321-B0E3-60DD-F526AE34D496}"/>
              </a:ext>
            </a:extLst>
          </p:cNvPr>
          <p:cNvPicPr>
            <a:picLocks noChangeAspect="1"/>
          </p:cNvPicPr>
          <p:nvPr/>
        </p:nvPicPr>
        <p:blipFill>
          <a:blip r:embed="rId5"/>
          <a:srcRect t="4920" r="-4" b="-4"/>
          <a:stretch>
            <a:fillRect/>
          </a:stretch>
        </p:blipFill>
        <p:spPr>
          <a:xfrm>
            <a:off x="9762371" y="5101838"/>
            <a:ext cx="2352899" cy="1756162"/>
          </a:xfrm>
          <a:prstGeom prst="rect">
            <a:avLst/>
          </a:prstGeom>
        </p:spPr>
      </p:pic>
      <p:grpSp>
        <p:nvGrpSpPr>
          <p:cNvPr id="108" name="Group 107">
            <a:extLst>
              <a:ext uri="{FF2B5EF4-FFF2-40B4-BE49-F238E27FC236}">
                <a16:creationId xmlns:a16="http://schemas.microsoft.com/office/drawing/2014/main" id="{03E85085-5390-83A9-2396-021E06F7C01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2068638" y="0"/>
            <a:ext cx="123362" cy="6858000"/>
            <a:chOff x="12068638" y="0"/>
            <a:chExt cx="123362" cy="6858000"/>
          </a:xfrm>
        </p:grpSpPr>
        <p:sp>
          <p:nvSpPr>
            <p:cNvPr id="109" name="Rectangle 108">
              <a:extLst>
                <a:ext uri="{FF2B5EF4-FFF2-40B4-BE49-F238E27FC236}">
                  <a16:creationId xmlns:a16="http://schemas.microsoft.com/office/drawing/2014/main" id="{CE72D198-285A-E9EC-E1A0-31F8CF3CEC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Rectangle 109">
              <a:extLst>
                <a:ext uri="{FF2B5EF4-FFF2-40B4-BE49-F238E27FC236}">
                  <a16:creationId xmlns:a16="http://schemas.microsoft.com/office/drawing/2014/main" id="{5831DFC4-DDB5-2721-FD99-03D64F1BD5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34000">
                  <a:schemeClr val="accent5">
                    <a:alpha val="0"/>
                  </a:schemeClr>
                </a:gs>
                <a:gs pos="100000">
                  <a:schemeClr val="accent5">
                    <a:lumMod val="60000"/>
                    <a:lumOff val="40000"/>
                    <a:alpha val="73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4796233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screenshot of a computer program&#10;&#10;AI-generated content may be incorrect.">
            <a:extLst>
              <a:ext uri="{FF2B5EF4-FFF2-40B4-BE49-F238E27FC236}">
                <a16:creationId xmlns:a16="http://schemas.microsoft.com/office/drawing/2014/main" id="{62A18946-3F6B-1C90-A6D7-2B3B70A77F43}"/>
              </a:ext>
            </a:extLst>
          </p:cNvPr>
          <p:cNvPicPr>
            <a:picLocks noGrp="1" noChangeAspect="1"/>
          </p:cNvPicPr>
          <p:nvPr>
            <p:ph idx="1"/>
          </p:nvPr>
        </p:nvPicPr>
        <p:blipFill>
          <a:blip r:embed="rId2"/>
          <a:srcRect t="16734" b="1872"/>
          <a:stretch>
            <a:fillRect/>
          </a:stretch>
        </p:blipFill>
        <p:spPr>
          <a:xfrm>
            <a:off x="457200" y="457200"/>
            <a:ext cx="11277600" cy="5943600"/>
          </a:xfrm>
          <a:prstGeom prst="rect">
            <a:avLst/>
          </a:prstGeom>
        </p:spPr>
      </p:pic>
      <p:sp>
        <p:nvSpPr>
          <p:cNvPr id="3" name="Rectangle 2">
            <a:extLst>
              <a:ext uri="{FF2B5EF4-FFF2-40B4-BE49-F238E27FC236}">
                <a16:creationId xmlns:a16="http://schemas.microsoft.com/office/drawing/2014/main" id="{7ECA97E7-A079-2154-B34D-4C58A3D98F2B}"/>
              </a:ext>
            </a:extLst>
          </p:cNvPr>
          <p:cNvSpPr/>
          <p:nvPr/>
        </p:nvSpPr>
        <p:spPr>
          <a:xfrm>
            <a:off x="4534137" y="265043"/>
            <a:ext cx="2764024" cy="42596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AC5CDB6D-6E27-232D-A8B3-AD46190767EE}"/>
              </a:ext>
            </a:extLst>
          </p:cNvPr>
          <p:cNvSpPr txBox="1"/>
          <p:nvPr/>
        </p:nvSpPr>
        <p:spPr>
          <a:xfrm>
            <a:off x="4532229" y="259944"/>
            <a:ext cx="2743200" cy="461665"/>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a:t>Display Node</a:t>
            </a:r>
          </a:p>
        </p:txBody>
      </p:sp>
    </p:spTree>
    <p:extLst>
      <p:ext uri="{BB962C8B-B14F-4D97-AF65-F5344CB8AC3E}">
        <p14:creationId xmlns:p14="http://schemas.microsoft.com/office/powerpoint/2010/main" val="804405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Fill">
            <a:extLst>
              <a:ext uri="{FF2B5EF4-FFF2-40B4-BE49-F238E27FC236}">
                <a16:creationId xmlns:a16="http://schemas.microsoft.com/office/drawing/2014/main" id="{7D07B7BC-3270-4CF3-A7AA-0937908AD5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108BB4D4-D71A-48F5-B2D2-45D2D78F4C2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88952" cy="6858000"/>
            <a:chOff x="651279" y="598259"/>
            <a:chExt cx="10889442" cy="5680742"/>
          </a:xfrm>
        </p:grpSpPr>
        <p:sp>
          <p:nvSpPr>
            <p:cNvPr id="12" name="Color">
              <a:extLst>
                <a:ext uri="{FF2B5EF4-FFF2-40B4-BE49-F238E27FC236}">
                  <a16:creationId xmlns:a16="http://schemas.microsoft.com/office/drawing/2014/main" id="{F287CCC2-896F-4F04-A017-737FB703FD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olor">
              <a:extLst>
                <a:ext uri="{FF2B5EF4-FFF2-40B4-BE49-F238E27FC236}">
                  <a16:creationId xmlns:a16="http://schemas.microsoft.com/office/drawing/2014/main" id="{821DD70C-9C59-4A01-BF0B-C027B5BCAF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 name="Picture 3">
            <a:extLst>
              <a:ext uri="{FF2B5EF4-FFF2-40B4-BE49-F238E27FC236}">
                <a16:creationId xmlns:a16="http://schemas.microsoft.com/office/drawing/2014/main" id="{4A30A8B6-B0FC-59C4-D860-9DB86D26B1B3}"/>
              </a:ext>
            </a:extLst>
          </p:cNvPr>
          <p:cNvPicPr>
            <a:picLocks noChangeAspect="1"/>
          </p:cNvPicPr>
          <p:nvPr/>
        </p:nvPicPr>
        <p:blipFill>
          <a:blip r:embed="rId2"/>
          <a:stretch>
            <a:fillRect/>
          </a:stretch>
        </p:blipFill>
        <p:spPr>
          <a:xfrm>
            <a:off x="676079" y="2992866"/>
            <a:ext cx="10893346" cy="2913969"/>
          </a:xfrm>
          <a:prstGeom prst="rect">
            <a:avLst/>
          </a:prstGeom>
        </p:spPr>
      </p:pic>
      <p:grpSp>
        <p:nvGrpSpPr>
          <p:cNvPr id="15" name="Group 14">
            <a:extLst>
              <a:ext uri="{FF2B5EF4-FFF2-40B4-BE49-F238E27FC236}">
                <a16:creationId xmlns:a16="http://schemas.microsoft.com/office/drawing/2014/main" id="{E27AF472-EAE3-4572-AB69-B92BD10DBC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6" name="Freeform: Shape 15">
              <a:extLst>
                <a:ext uri="{FF2B5EF4-FFF2-40B4-BE49-F238E27FC236}">
                  <a16:creationId xmlns:a16="http://schemas.microsoft.com/office/drawing/2014/main" id="{BF4DB9D2-6215-420C-874C-82EADF8C6C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7" name="Freeform: Shape 16">
              <a:extLst>
                <a:ext uri="{FF2B5EF4-FFF2-40B4-BE49-F238E27FC236}">
                  <a16:creationId xmlns:a16="http://schemas.microsoft.com/office/drawing/2014/main" id="{1F003139-C97C-44FA-B139-32E4DFDCE9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8" name="Freeform: Shape 17">
              <a:extLst>
                <a:ext uri="{FF2B5EF4-FFF2-40B4-BE49-F238E27FC236}">
                  <a16:creationId xmlns:a16="http://schemas.microsoft.com/office/drawing/2014/main" id="{5CE4DD6E-8CEA-45EE-B630-DBC22144D8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A4372F7F-AA3C-470B-AA61-7C35B7722C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34B605BF-D199-43DD-9328-E99F2ADFC6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E5D42A77-7336-4A35-8922-8098A16AA2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7401EE7D-B85D-4C10-AB8C-71884EFB1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F89A8ACD-E5AA-195C-0008-B0A6FDC54819}"/>
              </a:ext>
            </a:extLst>
          </p:cNvPr>
          <p:cNvSpPr>
            <a:spLocks noGrp="1"/>
          </p:cNvSpPr>
          <p:nvPr>
            <p:ph type="title"/>
          </p:nvPr>
        </p:nvSpPr>
        <p:spPr>
          <a:xfrm>
            <a:off x="786384" y="576072"/>
            <a:ext cx="5430250" cy="2751749"/>
          </a:xfrm>
        </p:spPr>
        <p:txBody>
          <a:bodyPr anchor="ctr">
            <a:normAutofit/>
          </a:bodyPr>
          <a:lstStyle/>
          <a:p>
            <a:r>
              <a:rPr lang="en-US" sz="4800">
                <a:solidFill>
                  <a:schemeClr val="bg1"/>
                </a:solidFill>
              </a:rPr>
              <a:t>Evaluation Methodology</a:t>
            </a:r>
          </a:p>
        </p:txBody>
      </p:sp>
      <p:sp>
        <p:nvSpPr>
          <p:cNvPr id="3" name="Content Placeholder 2">
            <a:extLst>
              <a:ext uri="{FF2B5EF4-FFF2-40B4-BE49-F238E27FC236}">
                <a16:creationId xmlns:a16="http://schemas.microsoft.com/office/drawing/2014/main" id="{0A7F30B8-AC0A-D1D1-36C7-832CB3307269}"/>
              </a:ext>
            </a:extLst>
          </p:cNvPr>
          <p:cNvSpPr>
            <a:spLocks noGrp="1"/>
          </p:cNvSpPr>
          <p:nvPr>
            <p:ph idx="1"/>
          </p:nvPr>
        </p:nvSpPr>
        <p:spPr>
          <a:xfrm>
            <a:off x="6464409" y="576072"/>
            <a:ext cx="4699459" cy="2778231"/>
          </a:xfrm>
        </p:spPr>
        <p:txBody>
          <a:bodyPr anchor="ctr">
            <a:normAutofit/>
          </a:bodyPr>
          <a:lstStyle/>
          <a:p>
            <a:r>
              <a:rPr lang="en-US" sz="1800">
                <a:solidFill>
                  <a:schemeClr val="bg1"/>
                </a:solidFill>
              </a:rPr>
              <a:t>Measure throughput and latency across 3 different workloads</a:t>
            </a:r>
          </a:p>
          <a:p>
            <a:pPr lvl="1"/>
            <a:r>
              <a:rPr lang="en-US" sz="1800">
                <a:solidFill>
                  <a:schemeClr val="bg1"/>
                </a:solidFill>
              </a:rPr>
              <a:t>Small workload</a:t>
            </a:r>
          </a:p>
          <a:p>
            <a:pPr lvl="1"/>
            <a:r>
              <a:rPr lang="en-US" sz="1800">
                <a:solidFill>
                  <a:schemeClr val="bg1"/>
                </a:solidFill>
              </a:rPr>
              <a:t>Medium workload</a:t>
            </a:r>
          </a:p>
          <a:p>
            <a:pPr lvl="1"/>
            <a:r>
              <a:rPr lang="en-US" sz="1800">
                <a:solidFill>
                  <a:schemeClr val="bg1"/>
                </a:solidFill>
              </a:rPr>
              <a:t>Large workload</a:t>
            </a:r>
          </a:p>
          <a:p>
            <a:r>
              <a:rPr lang="en-US" sz="1800">
                <a:solidFill>
                  <a:schemeClr val="bg1"/>
                </a:solidFill>
              </a:rPr>
              <a:t>MPI_Wtime &amp; MPI_Reduce</a:t>
            </a:r>
          </a:p>
          <a:p>
            <a:endParaRPr lang="en-US" sz="1800">
              <a:solidFill>
                <a:schemeClr val="bg1"/>
              </a:solidFill>
            </a:endParaRPr>
          </a:p>
        </p:txBody>
      </p:sp>
    </p:spTree>
    <p:extLst>
      <p:ext uri="{BB962C8B-B14F-4D97-AF65-F5344CB8AC3E}">
        <p14:creationId xmlns:p14="http://schemas.microsoft.com/office/powerpoint/2010/main" val="20522468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6F9B2CA-9ED5-8589-CCA6-45B3D4BC054D}"/>
              </a:ext>
            </a:extLst>
          </p:cNvPr>
          <p:cNvSpPr>
            <a:spLocks noGrp="1"/>
          </p:cNvSpPr>
          <p:nvPr>
            <p:ph type="title"/>
          </p:nvPr>
        </p:nvSpPr>
        <p:spPr>
          <a:xfrm>
            <a:off x="630936" y="639520"/>
            <a:ext cx="3429000" cy="1719072"/>
          </a:xfrm>
        </p:spPr>
        <p:txBody>
          <a:bodyPr anchor="b">
            <a:normAutofit/>
          </a:bodyPr>
          <a:lstStyle/>
          <a:p>
            <a:r>
              <a:rPr lang="en-US" sz="5400"/>
              <a:t>Results</a:t>
            </a:r>
          </a:p>
        </p:txBody>
      </p:sp>
      <p:sp>
        <p:nvSpPr>
          <p:cNvPr id="16"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4C9B3BE-915C-BC70-05D6-AE6CA514C8F5}"/>
              </a:ext>
            </a:extLst>
          </p:cNvPr>
          <p:cNvSpPr>
            <a:spLocks noGrp="1"/>
          </p:cNvSpPr>
          <p:nvPr>
            <p:ph idx="1"/>
          </p:nvPr>
        </p:nvSpPr>
        <p:spPr>
          <a:xfrm>
            <a:off x="630936" y="2807208"/>
            <a:ext cx="3429000" cy="3410712"/>
          </a:xfrm>
        </p:spPr>
        <p:txBody>
          <a:bodyPr anchor="t">
            <a:normAutofit/>
          </a:bodyPr>
          <a:lstStyle/>
          <a:p>
            <a:r>
              <a:rPr lang="en-US" sz="2200"/>
              <a:t>The average throughput of the local system outperformed the distributed system in every size set​</a:t>
            </a:r>
          </a:p>
        </p:txBody>
      </p:sp>
      <p:pic>
        <p:nvPicPr>
          <p:cNvPr id="9" name="Picture 8">
            <a:extLst>
              <a:ext uri="{FF2B5EF4-FFF2-40B4-BE49-F238E27FC236}">
                <a16:creationId xmlns:a16="http://schemas.microsoft.com/office/drawing/2014/main" id="{841ADC5D-F43A-8152-2134-8CF43ECA6049}"/>
              </a:ext>
            </a:extLst>
          </p:cNvPr>
          <p:cNvPicPr>
            <a:picLocks noChangeAspect="1"/>
          </p:cNvPicPr>
          <p:nvPr/>
        </p:nvPicPr>
        <p:blipFill>
          <a:blip r:embed="rId2"/>
          <a:stretch>
            <a:fillRect/>
          </a:stretch>
        </p:blipFill>
        <p:spPr>
          <a:xfrm>
            <a:off x="4654296" y="1504588"/>
            <a:ext cx="6903720" cy="3848823"/>
          </a:xfrm>
          <a:prstGeom prst="rect">
            <a:avLst/>
          </a:prstGeom>
        </p:spPr>
      </p:pic>
      <p:sp>
        <p:nvSpPr>
          <p:cNvPr id="5" name="AutoShape 4">
            <a:extLst>
              <a:ext uri="{FF2B5EF4-FFF2-40B4-BE49-F238E27FC236}">
                <a16:creationId xmlns:a16="http://schemas.microsoft.com/office/drawing/2014/main" id="{FF8DF605-2A44-4633-110C-F382CE6A078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0743869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73D83E41-3FA7-35FF-C7C2-2D48B541ED23}"/>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16C5FA50-8D52-4617-AF91-5C7B1C835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7671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6C45E2E-A9AC-1010-617C-DCDD6C7644B7}"/>
              </a:ext>
            </a:extLst>
          </p:cNvPr>
          <p:cNvSpPr>
            <a:spLocks noGrp="1"/>
          </p:cNvSpPr>
          <p:nvPr>
            <p:ph type="title"/>
          </p:nvPr>
        </p:nvSpPr>
        <p:spPr>
          <a:xfrm>
            <a:off x="9093496" y="618681"/>
            <a:ext cx="2613872" cy="4794567"/>
          </a:xfrm>
        </p:spPr>
        <p:txBody>
          <a:bodyPr vert="horz" lIns="91440" tIns="45720" rIns="91440" bIns="45720" rtlCol="0" anchor="ctr">
            <a:normAutofit/>
          </a:bodyPr>
          <a:lstStyle/>
          <a:p>
            <a:r>
              <a:rPr lang="en-US" sz="3600">
                <a:solidFill>
                  <a:srgbClr val="FFFFFF"/>
                </a:solidFill>
              </a:rPr>
              <a:t>Results</a:t>
            </a:r>
          </a:p>
        </p:txBody>
      </p:sp>
      <p:sp>
        <p:nvSpPr>
          <p:cNvPr id="13" name="Rounded Rectangle 9">
            <a:extLst>
              <a:ext uri="{FF2B5EF4-FFF2-40B4-BE49-F238E27FC236}">
                <a16:creationId xmlns:a16="http://schemas.microsoft.com/office/drawing/2014/main" id="{E223798C-12AD-4B0C-A50C-D676347D67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3354" y="484632"/>
            <a:ext cx="8129016" cy="5724144"/>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5">
            <a:extLst>
              <a:ext uri="{FF2B5EF4-FFF2-40B4-BE49-F238E27FC236}">
                <a16:creationId xmlns:a16="http://schemas.microsoft.com/office/drawing/2014/main" id="{1E218DEF-A594-BC47-8CC7-4455931444D7}"/>
              </a:ext>
            </a:extLst>
          </p:cNvPr>
          <p:cNvPicPr>
            <a:picLocks noGrp="1" noChangeAspect="1"/>
          </p:cNvPicPr>
          <p:nvPr>
            <p:ph idx="1"/>
          </p:nvPr>
        </p:nvPicPr>
        <p:blipFill>
          <a:blip r:embed="rId2"/>
          <a:srcRect l="4635" r="392" b="-1"/>
          <a:stretch>
            <a:fillRect/>
          </a:stretch>
        </p:blipFill>
        <p:spPr>
          <a:xfrm>
            <a:off x="976251" y="942538"/>
            <a:ext cx="7163222" cy="4808332"/>
          </a:xfrm>
          <a:prstGeom prst="rect">
            <a:avLst/>
          </a:prstGeom>
          <a:effectLst/>
        </p:spPr>
      </p:pic>
      <p:sp>
        <p:nvSpPr>
          <p:cNvPr id="5" name="AutoShape 4">
            <a:extLst>
              <a:ext uri="{FF2B5EF4-FFF2-40B4-BE49-F238E27FC236}">
                <a16:creationId xmlns:a16="http://schemas.microsoft.com/office/drawing/2014/main" id="{AFECEE87-1F79-D10D-E253-0DFC73B96B4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TextBox 3">
            <a:extLst>
              <a:ext uri="{FF2B5EF4-FFF2-40B4-BE49-F238E27FC236}">
                <a16:creationId xmlns:a16="http://schemas.microsoft.com/office/drawing/2014/main" id="{B71E4645-93C2-A7B6-E8A4-25FBCFDE7251}"/>
              </a:ext>
            </a:extLst>
          </p:cNvPr>
          <p:cNvSpPr txBox="1"/>
          <p:nvPr/>
        </p:nvSpPr>
        <p:spPr>
          <a:xfrm>
            <a:off x="8777767" y="3349255"/>
            <a:ext cx="2743200"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Latency grew as the number of computations increased in both systems, but in the distributed system latency grew exponentially faster. </a:t>
            </a:r>
          </a:p>
        </p:txBody>
      </p:sp>
    </p:spTree>
    <p:extLst>
      <p:ext uri="{BB962C8B-B14F-4D97-AF65-F5344CB8AC3E}">
        <p14:creationId xmlns:p14="http://schemas.microsoft.com/office/powerpoint/2010/main" val="18355804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a:extLst>
            <a:ext uri="{FF2B5EF4-FFF2-40B4-BE49-F238E27FC236}">
              <a16:creationId xmlns:a16="http://schemas.microsoft.com/office/drawing/2014/main" id="{69CE9E2B-00C8-85F0-5EB0-EF0FF0A666C8}"/>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607319A-C6C1-4DF5-259D-E4A7453D008C}"/>
              </a:ext>
            </a:extLst>
          </p:cNvPr>
          <p:cNvSpPr>
            <a:spLocks noGrp="1"/>
          </p:cNvSpPr>
          <p:nvPr>
            <p:ph type="title"/>
          </p:nvPr>
        </p:nvSpPr>
        <p:spPr>
          <a:xfrm>
            <a:off x="630936" y="639520"/>
            <a:ext cx="3429000" cy="1719072"/>
          </a:xfrm>
        </p:spPr>
        <p:txBody>
          <a:bodyPr anchor="b">
            <a:normAutofit/>
          </a:bodyPr>
          <a:lstStyle/>
          <a:p>
            <a:r>
              <a:rPr lang="en-US" sz="5400"/>
              <a:t>Results</a:t>
            </a:r>
          </a:p>
        </p:txBody>
      </p:sp>
      <p:sp>
        <p:nvSpPr>
          <p:cNvPr id="14"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8">
            <a:extLst>
              <a:ext uri="{FF2B5EF4-FFF2-40B4-BE49-F238E27FC236}">
                <a16:creationId xmlns:a16="http://schemas.microsoft.com/office/drawing/2014/main" id="{8155B19D-FA23-3A9F-C606-D55F5DAF0FAE}"/>
              </a:ext>
            </a:extLst>
          </p:cNvPr>
          <p:cNvSpPr>
            <a:spLocks noGrp="1"/>
          </p:cNvSpPr>
          <p:nvPr>
            <p:ph idx="1"/>
          </p:nvPr>
        </p:nvSpPr>
        <p:spPr>
          <a:xfrm>
            <a:off x="630936" y="2807208"/>
            <a:ext cx="3429000" cy="3410712"/>
          </a:xfrm>
        </p:spPr>
        <p:txBody>
          <a:bodyPr anchor="t">
            <a:normAutofit/>
          </a:bodyPr>
          <a:lstStyle/>
          <a:p>
            <a:r>
              <a:rPr lang="en-US" sz="2200"/>
              <a:t>Scale is adjusted with secondary axis</a:t>
            </a:r>
          </a:p>
          <a:p>
            <a:r>
              <a:rPr lang="en-US" sz="2200"/>
              <a:t>Trendline shows that the local system will scale better than a distributed system</a:t>
            </a:r>
          </a:p>
        </p:txBody>
      </p:sp>
      <p:pic>
        <p:nvPicPr>
          <p:cNvPr id="4" name="Content Placeholder 3">
            <a:extLst>
              <a:ext uri="{FF2B5EF4-FFF2-40B4-BE49-F238E27FC236}">
                <a16:creationId xmlns:a16="http://schemas.microsoft.com/office/drawing/2014/main" id="{8D41D113-A3C9-5888-A951-5F1CFD796D68}"/>
              </a:ext>
            </a:extLst>
          </p:cNvPr>
          <p:cNvPicPr>
            <a:picLocks noChangeAspect="1"/>
          </p:cNvPicPr>
          <p:nvPr/>
        </p:nvPicPr>
        <p:blipFill>
          <a:blip r:embed="rId2"/>
          <a:stretch>
            <a:fillRect/>
          </a:stretch>
        </p:blipFill>
        <p:spPr>
          <a:xfrm>
            <a:off x="4654296" y="1262958"/>
            <a:ext cx="6903720" cy="4332083"/>
          </a:xfrm>
          <a:prstGeom prst="rect">
            <a:avLst/>
          </a:prstGeom>
        </p:spPr>
      </p:pic>
      <p:sp>
        <p:nvSpPr>
          <p:cNvPr id="5" name="AutoShape 4">
            <a:extLst>
              <a:ext uri="{FF2B5EF4-FFF2-40B4-BE49-F238E27FC236}">
                <a16:creationId xmlns:a16="http://schemas.microsoft.com/office/drawing/2014/main" id="{D5BD74B3-8E5E-6E54-8AE8-B423E1AE5A3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7469749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a:extLst>
            <a:ext uri="{FF2B5EF4-FFF2-40B4-BE49-F238E27FC236}">
              <a16:creationId xmlns:a16="http://schemas.microsoft.com/office/drawing/2014/main" id="{BAABCD1C-4518-9691-20F3-93ECD1AD76B2}"/>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2AA6ABE9-BE7C-2865-EA0F-1B2ACD7A25DF}"/>
              </a:ext>
            </a:extLst>
          </p:cNvPr>
          <p:cNvSpPr>
            <a:spLocks noGrp="1"/>
          </p:cNvSpPr>
          <p:nvPr>
            <p:ph type="title"/>
          </p:nvPr>
        </p:nvSpPr>
        <p:spPr>
          <a:xfrm>
            <a:off x="1256522" y="591829"/>
            <a:ext cx="3939688" cy="5583126"/>
          </a:xfrm>
        </p:spPr>
        <p:txBody>
          <a:bodyPr>
            <a:normAutofit/>
          </a:bodyPr>
          <a:lstStyle/>
          <a:p>
            <a:r>
              <a:rPr lang="en-US" sz="8000"/>
              <a:t>Results</a:t>
            </a:r>
          </a:p>
        </p:txBody>
      </p:sp>
      <p:cxnSp>
        <p:nvCxnSpPr>
          <p:cNvPr id="13" name="Straight Connector 12">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5890" y="356812"/>
            <a:ext cx="0" cy="6492875"/>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15" name="Graphic 12">
            <a:extLst>
              <a:ext uri="{FF2B5EF4-FFF2-40B4-BE49-F238E27FC236}">
                <a16:creationId xmlns:a16="http://schemas.microsoft.com/office/drawing/2014/main" id="{58BDB0EE-D238-415B-9ED8-62AA6AB2AA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33111" y="591829"/>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a:p>
        </p:txBody>
      </p:sp>
      <p:sp>
        <p:nvSpPr>
          <p:cNvPr id="17" name="Graphic 11">
            <a:extLst>
              <a:ext uri="{FF2B5EF4-FFF2-40B4-BE49-F238E27FC236}">
                <a16:creationId xmlns:a16="http://schemas.microsoft.com/office/drawing/2014/main" id="{C5B55FC3-961D-4325-82F1-DE92B0D04E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791891" y="821124"/>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a:p>
        </p:txBody>
      </p:sp>
      <p:sp>
        <p:nvSpPr>
          <p:cNvPr id="19" name="Graphic 13">
            <a:extLst>
              <a:ext uri="{FF2B5EF4-FFF2-40B4-BE49-F238E27FC236}">
                <a16:creationId xmlns:a16="http://schemas.microsoft.com/office/drawing/2014/main" id="{4C8AB332-D09E-4F28-943C-DABDD4716A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17571" y="1336268"/>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a:p>
        </p:txBody>
      </p:sp>
      <p:sp>
        <p:nvSpPr>
          <p:cNvPr id="5" name="AutoShape 4">
            <a:extLst>
              <a:ext uri="{FF2B5EF4-FFF2-40B4-BE49-F238E27FC236}">
                <a16:creationId xmlns:a16="http://schemas.microsoft.com/office/drawing/2014/main" id="{6156AA1D-0B74-2061-FB57-12596336690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aphicFrame>
        <p:nvGraphicFramePr>
          <p:cNvPr id="8" name="Content Placeholder 2">
            <a:extLst>
              <a:ext uri="{FF2B5EF4-FFF2-40B4-BE49-F238E27FC236}">
                <a16:creationId xmlns:a16="http://schemas.microsoft.com/office/drawing/2014/main" id="{93EE4CD9-D4F0-D74B-8E5C-8D72D50C4BF0}"/>
              </a:ext>
            </a:extLst>
          </p:cNvPr>
          <p:cNvGraphicFramePr>
            <a:graphicFrameLocks noGrp="1"/>
          </p:cNvGraphicFramePr>
          <p:nvPr>
            <p:ph idx="1"/>
            <p:extLst>
              <p:ext uri="{D42A27DB-BD31-4B8C-83A1-F6EECF244321}">
                <p14:modId xmlns:p14="http://schemas.microsoft.com/office/powerpoint/2010/main" val="1090558854"/>
              </p:ext>
            </p:extLst>
          </p:nvPr>
        </p:nvGraphicFramePr>
        <p:xfrm>
          <a:off x="5492710" y="671805"/>
          <a:ext cx="5861090" cy="55031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110510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46AF081-115A-3FF3-1D0D-5AECF167042D}"/>
              </a:ext>
            </a:extLst>
          </p:cNvPr>
          <p:cNvSpPr>
            <a:spLocks noGrp="1"/>
          </p:cNvSpPr>
          <p:nvPr>
            <p:ph type="title"/>
          </p:nvPr>
        </p:nvSpPr>
        <p:spPr>
          <a:xfrm>
            <a:off x="761800" y="762001"/>
            <a:ext cx="5334197" cy="1708242"/>
          </a:xfrm>
        </p:spPr>
        <p:txBody>
          <a:bodyPr anchor="ctr">
            <a:normAutofit/>
          </a:bodyPr>
          <a:lstStyle/>
          <a:p>
            <a:r>
              <a:rPr lang="en-US" sz="4000"/>
              <a:t>AI Usage Overview</a:t>
            </a:r>
          </a:p>
        </p:txBody>
      </p:sp>
      <p:sp>
        <p:nvSpPr>
          <p:cNvPr id="3" name="Content Placeholder 2">
            <a:extLst>
              <a:ext uri="{FF2B5EF4-FFF2-40B4-BE49-F238E27FC236}">
                <a16:creationId xmlns:a16="http://schemas.microsoft.com/office/drawing/2014/main" id="{21D347D7-3DF3-130E-2D48-B79EA550DD2F}"/>
              </a:ext>
            </a:extLst>
          </p:cNvPr>
          <p:cNvSpPr>
            <a:spLocks noGrp="1"/>
          </p:cNvSpPr>
          <p:nvPr>
            <p:ph idx="1"/>
          </p:nvPr>
        </p:nvSpPr>
        <p:spPr>
          <a:xfrm>
            <a:off x="761800" y="2470244"/>
            <a:ext cx="5334197" cy="3769835"/>
          </a:xfrm>
        </p:spPr>
        <p:txBody>
          <a:bodyPr anchor="ctr">
            <a:normAutofit/>
          </a:bodyPr>
          <a:lstStyle/>
          <a:p>
            <a:r>
              <a:rPr lang="en-US" sz="2000"/>
              <a:t>GitHub Copilot</a:t>
            </a:r>
          </a:p>
          <a:p>
            <a:pPr lvl="1"/>
            <a:r>
              <a:rPr lang="en-US" sz="2000"/>
              <a:t>Code completion and syntax assistance during implementation  </a:t>
            </a:r>
          </a:p>
          <a:p>
            <a:r>
              <a:rPr lang="en-US" sz="2000"/>
              <a:t>Claude Sonnet 4</a:t>
            </a:r>
          </a:p>
          <a:p>
            <a:pPr lvl="1"/>
            <a:r>
              <a:rPr lang="en-US" sz="2000"/>
              <a:t>Technical writing, documentation enhancement, infrastructure configuration, and problem-solving guidance </a:t>
            </a:r>
          </a:p>
          <a:p>
            <a:endParaRPr lang="en-US" sz="2000"/>
          </a:p>
        </p:txBody>
      </p:sp>
      <p:pic>
        <p:nvPicPr>
          <p:cNvPr id="5" name="Picture 4" descr="Computer script on a screen">
            <a:extLst>
              <a:ext uri="{FF2B5EF4-FFF2-40B4-BE49-F238E27FC236}">
                <a16:creationId xmlns:a16="http://schemas.microsoft.com/office/drawing/2014/main" id="{23656743-E9E8-F20D-8288-3608728E16C5}"/>
              </a:ext>
            </a:extLst>
          </p:cNvPr>
          <p:cNvPicPr>
            <a:picLocks noChangeAspect="1"/>
          </p:cNvPicPr>
          <p:nvPr/>
        </p:nvPicPr>
        <p:blipFill>
          <a:blip r:embed="rId2"/>
          <a:srcRect l="5638" r="42602" b="-3"/>
          <a:stretch>
            <a:fillRect/>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18533339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A3C89F8-0D2F-47FF-B903-151248265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81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F85921BD-92BC-191C-537F-FF3120697CE9}"/>
              </a:ext>
            </a:extLst>
          </p:cNvPr>
          <p:cNvSpPr>
            <a:spLocks noGrp="1"/>
          </p:cNvSpPr>
          <p:nvPr>
            <p:ph type="title"/>
          </p:nvPr>
        </p:nvSpPr>
        <p:spPr>
          <a:xfrm>
            <a:off x="3880430" y="583345"/>
            <a:ext cx="7160357" cy="4164820"/>
          </a:xfrm>
        </p:spPr>
        <p:txBody>
          <a:bodyPr vert="horz" lIns="91440" tIns="45720" rIns="91440" bIns="45720" rtlCol="0" anchor="t">
            <a:normAutofit/>
          </a:bodyPr>
          <a:lstStyle/>
          <a:p>
            <a:pPr algn="r"/>
            <a:r>
              <a:rPr lang="en-US" sz="8000" kern="1200">
                <a:solidFill>
                  <a:srgbClr val="FFFFFF"/>
                </a:solidFill>
                <a:latin typeface="+mj-lt"/>
                <a:ea typeface="+mj-ea"/>
                <a:cs typeface="+mj-cs"/>
              </a:rPr>
              <a:t>Q &amp; A</a:t>
            </a:r>
          </a:p>
        </p:txBody>
      </p:sp>
      <p:sp>
        <p:nvSpPr>
          <p:cNvPr id="3" name="Text Placeholder 2">
            <a:extLst>
              <a:ext uri="{FF2B5EF4-FFF2-40B4-BE49-F238E27FC236}">
                <a16:creationId xmlns:a16="http://schemas.microsoft.com/office/drawing/2014/main" id="{142FE636-9B9F-5F5C-F0C1-69B2BB24FC00}"/>
              </a:ext>
            </a:extLst>
          </p:cNvPr>
          <p:cNvSpPr>
            <a:spLocks noGrp="1"/>
          </p:cNvSpPr>
          <p:nvPr>
            <p:ph type="body" idx="1"/>
          </p:nvPr>
        </p:nvSpPr>
        <p:spPr>
          <a:xfrm>
            <a:off x="1208228" y="5972174"/>
            <a:ext cx="8578699" cy="504825"/>
          </a:xfrm>
        </p:spPr>
        <p:txBody>
          <a:bodyPr vert="horz" lIns="91440" tIns="45720" rIns="91440" bIns="45720" rtlCol="0">
            <a:normAutofit/>
          </a:bodyPr>
          <a:lstStyle/>
          <a:p>
            <a:r>
              <a:rPr lang="en-US" sz="2000" kern="1200">
                <a:solidFill>
                  <a:srgbClr val="FFFFFF"/>
                </a:solidFill>
                <a:latin typeface="+mn-lt"/>
                <a:ea typeface="+mn-ea"/>
                <a:cs typeface="+mn-cs"/>
              </a:rPr>
              <a:t>Please ask us Questions</a:t>
            </a:r>
          </a:p>
        </p:txBody>
      </p:sp>
      <p:sp>
        <p:nvSpPr>
          <p:cNvPr id="10"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4359" y="583345"/>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endParaRPr lang="en-US">
              <a:solidFill>
                <a:srgbClr val="FFFFFF"/>
              </a:solidFill>
            </a:endParaRPr>
          </a:p>
        </p:txBody>
      </p:sp>
      <p:sp>
        <p:nvSpPr>
          <p:cNvPr id="12"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33139" y="8126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a:solidFill>
                <a:srgbClr val="FFFFFF"/>
              </a:solidFill>
            </a:endParaRPr>
          </a:p>
        </p:txBody>
      </p:sp>
      <p:sp>
        <p:nvSpPr>
          <p:cNvPr id="14"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8819" y="1037066"/>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endParaRPr lang="en-US">
              <a:solidFill>
                <a:srgbClr val="FFFFFF"/>
              </a:solidFill>
            </a:endParaRPr>
          </a:p>
        </p:txBody>
      </p:sp>
      <p:cxnSp>
        <p:nvCxnSpPr>
          <p:cNvPr id="16" name="Straight Connector 15">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56114" y="3503032"/>
            <a:ext cx="0" cy="334609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18" name="Graphic 22">
            <a:extLst>
              <a:ext uri="{FF2B5EF4-FFF2-40B4-BE49-F238E27FC236}">
                <a16:creationId xmlns:a16="http://schemas.microsoft.com/office/drawing/2014/main" id="{508BEF50-7B1E-49A4-BC19-5F4F1D755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36425" y="5636680"/>
            <a:ext cx="151536" cy="151536"/>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rgbClr val="FFFFFF"/>
          </a:solidFill>
          <a:ln w="646" cap="flat">
            <a:noFill/>
            <a:prstDash val="solid"/>
            <a:miter/>
          </a:ln>
        </p:spPr>
        <p:txBody>
          <a:bodyPr rtlCol="0" anchor="ctr"/>
          <a:lstStyle/>
          <a:p>
            <a:endParaRPr lang="en-US">
              <a:solidFill>
                <a:srgbClr val="FFFFFF"/>
              </a:solidFill>
            </a:endParaRPr>
          </a:p>
        </p:txBody>
      </p:sp>
      <p:sp>
        <p:nvSpPr>
          <p:cNvPr id="20" name="Graphic 23">
            <a:extLst>
              <a:ext uri="{FF2B5EF4-FFF2-40B4-BE49-F238E27FC236}">
                <a16:creationId xmlns:a16="http://schemas.microsoft.com/office/drawing/2014/main" id="{3FBAD350-5664-4811-A208-657FB882D3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45175" y="6096759"/>
            <a:ext cx="108625" cy="108625"/>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rgbClr val="FFFFFF"/>
          </a:solidFill>
          <a:ln w="516" cap="flat">
            <a:noFill/>
            <a:prstDash val="solid"/>
            <a:miter/>
          </a:ln>
        </p:spPr>
        <p:txBody>
          <a:bodyPr rtlCol="0" anchor="ctr"/>
          <a:lstStyle/>
          <a:p>
            <a:endParaRPr lang="en-US">
              <a:solidFill>
                <a:srgbClr val="FFFFFF"/>
              </a:solidFill>
            </a:endParaRPr>
          </a:p>
        </p:txBody>
      </p:sp>
      <p:sp>
        <p:nvSpPr>
          <p:cNvPr id="22" name="Graphic 21">
            <a:extLst>
              <a:ext uri="{FF2B5EF4-FFF2-40B4-BE49-F238E27FC236}">
                <a16:creationId xmlns:a16="http://schemas.microsoft.com/office/drawing/2014/main" id="{C39ADB8F-D187-49D7-BDCF-C1B6DC7270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54288" y="6238029"/>
            <a:ext cx="95759" cy="95759"/>
          </a:xfrm>
          <a:custGeom>
            <a:avLst/>
            <a:gdLst>
              <a:gd name="connsiteX0" fmla="*/ 95759 w 95759"/>
              <a:gd name="connsiteY0" fmla="*/ 47880 h 95759"/>
              <a:gd name="connsiteX1" fmla="*/ 47880 w 95759"/>
              <a:gd name="connsiteY1" fmla="*/ 95759 h 95759"/>
              <a:gd name="connsiteX2" fmla="*/ 0 w 95759"/>
              <a:gd name="connsiteY2" fmla="*/ 47880 h 95759"/>
              <a:gd name="connsiteX3" fmla="*/ 47880 w 95759"/>
              <a:gd name="connsiteY3" fmla="*/ 0 h 95759"/>
              <a:gd name="connsiteX4" fmla="*/ 95759 w 95759"/>
              <a:gd name="connsiteY4" fmla="*/ 47880 h 9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59" h="95759">
                <a:moveTo>
                  <a:pt x="95759" y="47880"/>
                </a:moveTo>
                <a:cubicBezTo>
                  <a:pt x="95759" y="74323"/>
                  <a:pt x="74323" y="95759"/>
                  <a:pt x="47880" y="95759"/>
                </a:cubicBezTo>
                <a:cubicBezTo>
                  <a:pt x="21436" y="95759"/>
                  <a:pt x="0" y="74323"/>
                  <a:pt x="0" y="47880"/>
                </a:cubicBezTo>
                <a:cubicBezTo>
                  <a:pt x="0" y="21436"/>
                  <a:pt x="21436" y="0"/>
                  <a:pt x="47880" y="0"/>
                </a:cubicBezTo>
                <a:cubicBezTo>
                  <a:pt x="74323" y="0"/>
                  <a:pt x="95759" y="21436"/>
                  <a:pt x="95759" y="47880"/>
                </a:cubicBezTo>
                <a:close/>
              </a:path>
            </a:pathLst>
          </a:custGeom>
          <a:solidFill>
            <a:srgbClr val="FFFFFF"/>
          </a:solidFill>
          <a:ln w="469" cap="flat">
            <a:noFill/>
            <a:prstDash val="solid"/>
            <a:miter/>
          </a:ln>
        </p:spPr>
        <p:txBody>
          <a:bodyPr rtlCol="0" anchor="ctr"/>
          <a:lstStyle/>
          <a:p>
            <a:endParaRPr lang="en-US">
              <a:solidFill>
                <a:srgbClr val="FFFFFF"/>
              </a:solidFill>
            </a:endParaRPr>
          </a:p>
        </p:txBody>
      </p:sp>
    </p:spTree>
    <p:extLst>
      <p:ext uri="{BB962C8B-B14F-4D97-AF65-F5344CB8AC3E}">
        <p14:creationId xmlns:p14="http://schemas.microsoft.com/office/powerpoint/2010/main" val="42343185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DE31A319EE36C46B80C208BA792A519" ma:contentTypeVersion="3" ma:contentTypeDescription="Create a new document." ma:contentTypeScope="" ma:versionID="7bf55c77f17a199f85f87aedde4dc314">
  <xsd:schema xmlns:xsd="http://www.w3.org/2001/XMLSchema" xmlns:xs="http://www.w3.org/2001/XMLSchema" xmlns:p="http://schemas.microsoft.com/office/2006/metadata/properties" xmlns:ns2="b84619f2-8cb1-4465-ac57-fb1aec629d6b" targetNamespace="http://schemas.microsoft.com/office/2006/metadata/properties" ma:root="true" ma:fieldsID="46e560e330decf4aa48034adb05275bd" ns2:_="">
    <xsd:import namespace="b84619f2-8cb1-4465-ac57-fb1aec629d6b"/>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84619f2-8cb1-4465-ac57-fb1aec629d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7505BB2-19E5-4B9A-A1A9-6C469F136BA7}">
  <ds:schemaRefs>
    <ds:schemaRef ds:uri="http://schemas.microsoft.com/sharepoint/v3/contenttype/forms"/>
  </ds:schemaRefs>
</ds:datastoreItem>
</file>

<file path=customXml/itemProps2.xml><?xml version="1.0" encoding="utf-8"?>
<ds:datastoreItem xmlns:ds="http://schemas.openxmlformats.org/officeDocument/2006/customXml" ds:itemID="{DD21FF7D-37AC-44C3-B8C8-41582231E6E7}">
  <ds:schemaRefs>
    <ds:schemaRef ds:uri="b84619f2-8cb1-4465-ac57-fb1aec629d6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3A5BCAF6-5946-4FDB-BDF0-2FBF67542EB0}">
  <ds:schemaRefs>
    <ds:schemaRef ds:uri="b84619f2-8cb1-4465-ac57-fb1aec629d6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19</Slides>
  <Notes>1</Notes>
  <HiddenSlides>0</HiddenSlide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theme</vt:lpstr>
      <vt:lpstr>High-Performance Arithmetic System</vt:lpstr>
      <vt:lpstr>Introduction</vt:lpstr>
      <vt:lpstr>Distributed Input Processing</vt:lpstr>
      <vt:lpstr>Parallel Arithmetic Operations</vt:lpstr>
      <vt:lpstr>Fault-Tolerant Communication</vt:lpstr>
      <vt:lpstr>Synchronous Result Aggregation</vt:lpstr>
      <vt:lpstr>Performance Monitoring and Analytics</vt:lpstr>
      <vt:lpstr>Scalable Container Orchestration</vt:lpstr>
      <vt:lpstr>Architecture</vt:lpstr>
      <vt:lpstr>PowerPoint Presentation</vt:lpstr>
      <vt:lpstr>Computation Nodes</vt:lpstr>
      <vt:lpstr>PowerPoint Presentation</vt:lpstr>
      <vt:lpstr>Evaluation Methodology</vt:lpstr>
      <vt:lpstr>Results</vt:lpstr>
      <vt:lpstr>Results</vt:lpstr>
      <vt:lpstr>Results</vt:lpstr>
      <vt:lpstr>Results</vt:lpstr>
      <vt:lpstr>AI Usage Overview</vt:lpstr>
      <vt:lpstr>Q &amp; 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29</cp:revision>
  <dcterms:created xsi:type="dcterms:W3CDTF">2026-02-23T20:00:12Z</dcterms:created>
  <dcterms:modified xsi:type="dcterms:W3CDTF">2026-02-26T04:25:39Z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0x0101008DE31A319EE36C46B80C208BA792A519</vt:lpwstr>
  </property>
</Properties>
</file>